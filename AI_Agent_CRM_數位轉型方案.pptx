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B4D8"/>
                </a:solidFill>
                <a:latin typeface="Microsoft JhengHei"/>
              </a:defRPr>
            </a:pPr>
            <a:r>
              <a:t>AI AGENT 智能體技術應用方案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JhengHei"/>
              </a:defRPr>
            </a:pPr>
            <a:r>
              <a:t>AI Agent 賦能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B4D8"/>
                </a:solidFill>
                <a:latin typeface="Microsoft JhengHei"/>
              </a:defRPr>
            </a:pPr>
            <a:r>
              <a:t>助力電商與現代零售業 · 全方位數位轉型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572000"/>
            <a:ext cx="2743200" cy="54864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Microsoft JhengHei"/>
              </a:defRPr>
            </a:pPr>
            <a:r>
              <a:t>2026 年度解決方案提案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Powered by AI Agent · Intelligent CRM Suite</a:t>
            </a:r>
          </a:p>
        </p:txBody>
      </p:sp>
      <p:sp>
        <p:nvSpPr>
          <p:cNvPr id="10" name="Oval 9"/>
          <p:cNvSpPr/>
          <p:nvPr/>
        </p:nvSpPr>
        <p:spPr>
          <a:xfrm>
            <a:off x="9601200" y="914400"/>
            <a:ext cx="2286000" cy="2286000"/>
          </a:xfrm>
          <a:prstGeom prst="ellipse">
            <a:avLst/>
          </a:prstGeom>
          <a:solidFill>
            <a:srgbClr val="006D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0" y="1645920"/>
            <a:ext cx="1828800" cy="1828800"/>
          </a:xfrm>
          <a:prstGeom prst="ellipse">
            <a:avLst/>
          </a:prstGeom>
          <a:solidFill>
            <a:srgbClr val="00B4D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0" y="2377440"/>
            <a:ext cx="1371600" cy="1371600"/>
          </a:xfrm>
          <a:prstGeom prst="ellipse">
            <a:avLst/>
          </a:prstGeom>
          <a:solidFill>
            <a:srgbClr val="7C3AED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議 程 內 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Microsoft JhengHei"/>
              </a:defRPr>
            </a:pPr>
            <a: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5303520" cy="1097280"/>
          </a:xfrm>
          <a:prstGeom prst="round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9601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產業痛點分析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4630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電商與零售業面臨的共同挑戰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914400"/>
            <a:ext cx="5303520" cy="1097280"/>
          </a:xfrm>
          <a:prstGeom prst="round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0058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9601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AI Agent 技術介紹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4630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什麼是 AI Agent？核心能力解析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86000"/>
            <a:ext cx="5303520" cy="109728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3774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D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3317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AI Agent + CRM 核心架構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8346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如何將 AI Agent 嵌入 CRM 系統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286000"/>
            <a:ext cx="5303520" cy="109728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3774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DFF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3317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電商場景應用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8346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智慧客服、個人化推薦、自動跟單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5303520" cy="109728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490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DFF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7033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實體零售場景應用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206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店員助手、庫存管理、會員辨識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657600"/>
            <a:ext cx="5303520" cy="109728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7490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DFF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7033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技術架構與部署方案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206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LLM + Agent Framework + CRM 整合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029200"/>
            <a:ext cx="5303520" cy="109728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1206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DFF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0749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導入效益分析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577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量化指標與預期成果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029200"/>
            <a:ext cx="5303520" cy="109728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1206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DFF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0749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合作方案與成功案例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5577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三種合作模式與參考案例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產業痛點分析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Microsoft JhengHei"/>
              </a:defRPr>
            </a:pPr>
            <a:r>
              <a:t>電商與零售業面臨的共同挑戰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697480" cy="27432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697480" cy="7315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DFF"/>
                </a:solidFill>
                <a:latin typeface="Microsoft JhengHei"/>
              </a:defRPr>
            </a:pPr>
            <a:r>
              <a:t>數據孤島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顧客數據分散在多個平台</a:t>
            </a:r>
            <a:br/>
            <a:r>
              <a:t>無法建立統一 360° 用戶視圖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188720"/>
            <a:ext cx="2697480" cy="27432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188720"/>
            <a:ext cx="269748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Microsoft JhengHei"/>
              </a:defRPr>
            </a:pPr>
            <a:r>
              <a:t>客服瓶頸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19456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80% 重複性問題佔用人力</a:t>
            </a:r>
            <a:br/>
            <a:r>
              <a:t>回應速度跟不上顧客期待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188720"/>
            <a:ext cx="2697480" cy="27432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188720"/>
            <a:ext cx="26974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Microsoft JhengHei"/>
              </a:defRPr>
            </a:pPr>
            <a:r>
              <a:t>個人化不足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19456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大量 Generic 推廣訊息</a:t>
            </a:r>
            <a:br/>
            <a:r>
              <a:t>轉換率低，顧客體驗差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1188720"/>
            <a:ext cx="2697480" cy="27432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19" y="1188720"/>
            <a:ext cx="2697480" cy="73152"/>
          </a:xfrm>
          <a:prstGeom prst="rect">
            <a:avLst/>
          </a:prstGeom>
          <a:solidFill>
            <a:srgbClr val="00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39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88D"/>
                </a:solidFill>
                <a:latin typeface="Microsoft JhengHei"/>
              </a:defRPr>
            </a:pPr>
            <a:r>
              <a:t>決策緩慢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219456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數據分析需人工彙整</a:t>
            </a:r>
            <a:br/>
            <a:r>
              <a:t>無法即時回應市場變化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11064240" cy="18288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JhengHei"/>
              </a:defRPr>
            </a:pPr>
            <a:r>
              <a:t>核心問題：缺乏一個能自主感知、分析、行動的智能中樞來串接 CRM 全流程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傳統 CRM 偏重「記錄與查詢」，無法主動服務、預測需求、自動執行任務。AI Agent 正是為了解決這個缺口而生。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什麼是 AI Agent？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Microsoft JhengHei"/>
              </a:defRPr>
            </a:pPr>
            <a:r>
              <a:t>自主感知 · 理性決策 · 行動執行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697480" cy="256032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697480" cy="7315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DFF"/>
                </a:solidFill>
                <a:latin typeface="Microsoft JhengHei"/>
              </a:defRPr>
            </a:pPr>
            <a:r>
              <a:t>🔍 感知 Perceive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即時接收顧客對話、行為數據</a:t>
            </a:r>
            <a:br/>
            <a:r>
              <a:t>第三方平台事件（訂單、退貨）</a:t>
            </a:r>
            <a:br/>
            <a:r>
              <a:t>庫存、物流等系統訊號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188720"/>
            <a:ext cx="2697480" cy="256032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188720"/>
            <a:ext cx="26974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4630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JhengHei"/>
              </a:defRPr>
            </a:pPr>
            <a:r>
              <a:t>🧠 推理 Reason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19456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LLM 理解語意與意圖</a:t>
            </a:r>
            <a:br/>
            <a:r>
              <a:t>結合 CRM 歷史數據分析</a:t>
            </a:r>
            <a:br/>
            <a:r>
              <a:t>多步驟任務規劃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188720"/>
            <a:ext cx="2697480" cy="256032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188720"/>
            <a:ext cx="2697480" cy="73152"/>
          </a:xfrm>
          <a:prstGeom prst="rect">
            <a:avLst/>
          </a:prstGeom>
          <a:solidFill>
            <a:srgbClr val="00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4630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8D"/>
                </a:solidFill>
                <a:latin typeface="Microsoft JhengHei"/>
              </a:defRPr>
            </a:pPr>
            <a:r>
              <a:t>🔨 行動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19456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自動回覆、生成訂單、修改標籤</a:t>
            </a:r>
            <a:br/>
            <a:r>
              <a:t>串接 API 執行 CRM 操作</a:t>
            </a:r>
            <a:br/>
            <a:r>
              <a:t>跨系統協調工作流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1188720"/>
            <a:ext cx="2697480" cy="256032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19" y="1188720"/>
            <a:ext cx="269748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39" y="14630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Microsoft JhengHei"/>
              </a:defRPr>
            </a:pPr>
            <a:r>
              <a:t>📊 學習 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219456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從互動結果中反饋優化</a:t>
            </a:r>
            <a:br/>
            <a:r>
              <a:t>持續更新用戶偏好模型</a:t>
            </a:r>
            <a:br/>
            <a:r>
              <a:t>逐步提升自主決策準確度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23360"/>
            <a:ext cx="11064240" cy="201168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Microsoft JhengHei"/>
              </a:defRPr>
            </a:pPr>
            <a:r>
              <a:t>AI Agent vs 傳統 Chatbot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傳統 Chatbot：固定腳本 → 只能回答預設問題，超出範圍即轉人工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AI Agent：LLM 驅動 → 理解開放式對話，自主規劃任務並調用工具完成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AI Agent + CRM 核心架構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Microsoft JhengHei"/>
              </a:defRPr>
            </a:pPr>
            <a:r>
              <a:t>以 CRM 為核心，AI Agent 為智能大腦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109728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73152" cy="1097280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DFF"/>
                </a:solidFill>
                <a:latin typeface="Microsoft JhengHei"/>
              </a:defRPr>
            </a:pPr>
            <a:r>
              <a:t>🌐 接入層 Touchpoint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官網 / LINE / Facebook Messenger / WhatsApp / 門市 POS /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0698480" cy="109728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731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JhengHei"/>
              </a:defRPr>
            </a:pPr>
            <a:r>
              <a:t>🤖 AI Agent 中樞層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LLM 引擎 · 意圖識別 · 多輪對話 · 任務規劃 · 工具調用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698480" cy="109728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73152" cy="1097280"/>
          </a:xfrm>
          <a:prstGeom prst="rect">
            <a:avLst/>
          </a:prstGeom>
          <a:solidFill>
            <a:srgbClr val="00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03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8D"/>
                </a:solidFill>
                <a:latin typeface="Microsoft JhengHei"/>
              </a:defRPr>
            </a:pPr>
            <a:r>
              <a:t>📊 CRM 核心層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會員管理 · 標籤分群 · 行銷自動化 · 工單系統 · 數據分析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92040"/>
            <a:ext cx="10698480" cy="109728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892040"/>
            <a:ext cx="73152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Microsoft JhengHei"/>
              </a:defRPr>
            </a:pPr>
            <a:r>
              <a:t>📦 數據與系統層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440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ERP / 電商平台 / 物流 / 金流 / Data Warehouse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Microsoft JhengHei"/>
              </a:defRPr>
            </a:pPr>
            <a:r>
              <a:t>🔗 資料流：顧客行為 → AI Agent 感知分析 → CRM 更新標籤/分數 → 觸發自動化行銷/客服行動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電商場景應用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Microsoft JhengHei"/>
              </a:defRPr>
            </a:pPr>
            <a:r>
              <a:t>E-Commerce Application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237744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7315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FF"/>
                </a:solidFill>
                <a:latin typeface="Microsoft JhengHei"/>
              </a:defRPr>
            </a:pPr>
            <a:r>
              <a:t>💬 智慧客服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• 24/7 自動回應售前售後問題</a:t>
            </a:r>
            <a:br/>
            <a:r>
              <a:t>• 退換貨流程引導與自動建單</a:t>
            </a:r>
            <a:br/>
            <a:r>
              <a:t>• 跨語言即時翻譯客服</a:t>
            </a:r>
            <a:br/>
            <a:r>
              <a:t>• 情緒偵測與升級通報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566160" cy="237744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JhengHei"/>
              </a:defRPr>
            </a:pPr>
            <a:r>
              <a:t>💡 個人化推薦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• 瀏覽行為即時分析</a:t>
            </a:r>
            <a:br/>
            <a:r>
              <a:t>• LLM 生成商品描述與推薦理由</a:t>
            </a:r>
            <a:br/>
            <a:r>
              <a:t>• 跨渠道一致性推薦（web + APP）</a:t>
            </a:r>
            <a:br/>
            <a:r>
              <a:t>• A/B 測試自動優化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566160" cy="237744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566160" cy="73152"/>
          </a:xfrm>
          <a:prstGeom prst="rect">
            <a:avLst/>
          </a:prstGeom>
          <a:solidFill>
            <a:srgbClr val="00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88D"/>
                </a:solidFill>
                <a:latin typeface="Microsoft JhengHei"/>
              </a:defRPr>
            </a:pPr>
            <a:r>
              <a:t>📨 自動跟單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• 下單後自動追蹤物流狀態</a:t>
            </a:r>
            <a:br/>
            <a:r>
              <a:t>• 未結帳購物車自動提醒</a:t>
            </a:r>
            <a:br/>
            <a:r>
              <a:t>• 會員生日/節慶自動關懷</a:t>
            </a:r>
            <a:br/>
            <a:r>
              <a:t>• 回購預測與主動行銷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11247120" cy="22860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JhengHei"/>
              </a:defRPr>
            </a:pPr>
            <a:r>
              <a:t>🎯 實際成效案例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▶ 某電商導入 AI Agent 客服後，一線問題解決率達 85%，人工客服量降低 62%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37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▶ 個人化推薦引擎上線後，Email 點擊率提升 3.2 倍，平均客單價提升 28%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▶ 自動跟單系統使購物車挽回率從 8% 提升至 34%，月增營收 NT$180 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實體零售場景應用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Microsoft JhengHei"/>
              </a:defRPr>
            </a:pPr>
            <a:r>
              <a:t>Retail Application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237744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7315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FF"/>
                </a:solidFill>
                <a:latin typeface="Microsoft JhengHei"/>
              </a:defRPr>
            </a:pPr>
            <a:r>
              <a:t>🧑‍🏫 門市店員助手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• AI Agent 即時回答商品知識</a:t>
            </a:r>
            <a:br/>
            <a:r>
              <a:t>• 會員資訊一鍵查詢與推薦搭配</a:t>
            </a:r>
            <a:br/>
            <a:r>
              <a:t>• 多語言即時翻譯服務</a:t>
            </a:r>
            <a:br/>
            <a:r>
              <a:t>• 培訓新人縮短 60% 上手時間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566160" cy="237744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JhengHei"/>
              </a:defRPr>
            </a:pPr>
            <a:r>
              <a:t>📦 智慧庫存管理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• 銷售預測驅動自動補貨</a:t>
            </a:r>
            <a:br/>
            <a:r>
              <a:t>• 跨店庫存調度推薦</a:t>
            </a:r>
            <a:br/>
            <a:r>
              <a:t>• 滯銷品自動標記與促銷建議</a:t>
            </a:r>
            <a:br/>
            <a:r>
              <a:t>• 供應鏈異常即時告警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566160" cy="237744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566160" cy="73152"/>
          </a:xfrm>
          <a:prstGeom prst="rect">
            <a:avLst/>
          </a:prstGeom>
          <a:solidFill>
            <a:srgbClr val="00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88D"/>
                </a:solidFill>
                <a:latin typeface="Microsoft JhengHei"/>
              </a:defRPr>
            </a:pPr>
            <a:r>
              <a:t>👤 會員辨識與服務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• 進店 AI 辨識 VIP 會員</a:t>
            </a:r>
            <a:br/>
            <a:r>
              <a:t>• 歷史消費記錄即時推送給店員</a:t>
            </a:r>
            <a:br/>
            <a:r>
              <a:t>• 個人化優惠自動生成</a:t>
            </a:r>
            <a:br/>
            <a:r>
              <a:t>• 離店後自動跟進滿意度調查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11247120" cy="22860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JhengHei"/>
              </a:defRPr>
            </a:pPr>
            <a:r>
              <a:t>🎯 實際成效案例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▶ 連鎖藥妝店導入店員助手，結帳含推薦時間平均縮短 40 秒 / 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37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▶ 智慧庫存系統使缺貨率下降 55%，庫存周轉天數減少 22 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▶ VIP 進店辨識即時通知店長，VIP 客單消費金額提升 45%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技術架構與部署方案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Microsoft JhengHei"/>
              </a:defRPr>
            </a:pPr>
            <a:r>
              <a:t>LLM + Agent Framework + CRM 整合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697480" cy="22860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697480" cy="7315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DFF"/>
                </a:solidFill>
                <a:latin typeface="Microsoft JhengHei"/>
              </a:defRPr>
            </a:pPr>
            <a:r>
              <a:t>LLM 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支援 GPT-4 / Claude / Gemini</a:t>
            </a:r>
            <a:br/>
            <a:r>
              <a:t>可依場景切換模型</a:t>
            </a:r>
            <a:br/>
            <a:r>
              <a:t>支援私有化部署選項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188720"/>
            <a:ext cx="2697480" cy="22860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188720"/>
            <a:ext cx="26974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4630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JhengHei"/>
              </a:defRPr>
            </a:pPr>
            <a:r>
              <a:t>Agent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0116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LangChain / CrewAI 框架</a:t>
            </a:r>
            <a:br/>
            <a:r>
              <a:t>工具調用（Function Calling）</a:t>
            </a:r>
            <a:br/>
            <a:r>
              <a:t>記憶管理（短期+長期）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188720"/>
            <a:ext cx="2697480" cy="22860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188720"/>
            <a:ext cx="2697480" cy="73152"/>
          </a:xfrm>
          <a:prstGeom prst="rect">
            <a:avLst/>
          </a:prstGeom>
          <a:solidFill>
            <a:srgbClr val="00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4630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8D"/>
                </a:solidFill>
                <a:latin typeface="Microsoft JhengHei"/>
              </a:defRPr>
            </a:pPr>
            <a:r>
              <a:t>CRM 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0116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支援 Salesforce / HubSpot</a:t>
            </a:r>
            <a:br/>
            <a:r>
              <a:t>自有 CRM 系統 API 串接</a:t>
            </a:r>
            <a:br/>
            <a:r>
              <a:t>LINE / FB Messenger / WhatsApp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1188720"/>
            <a:ext cx="2697480" cy="22860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19" y="1188720"/>
            <a:ext cx="269748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39" y="14630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Microsoft JhengHei"/>
              </a:defRPr>
            </a:pPr>
            <a:r>
              <a:t>數據與監控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20116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向量資料庫（Pinecone）</a:t>
            </a:r>
            <a:br/>
            <a:r>
              <a:t>對話日誌與成效儀表板</a:t>
            </a:r>
            <a:br/>
            <a:r>
              <a:t>A/B 測試與模型評測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49039"/>
            <a:ext cx="11064240" cy="22860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JhengHei"/>
              </a:defRPr>
            </a:pPr>
            <a:r>
              <a:t>🛡 資安與合規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▶ 數據加密：傳輸 TLS 1.3 + 靜態 AES-256 加密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▶ 合規支援：符合 GDPR / CCPA / 台灣個資法規範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▶ 部署彈性：可選公有雲（AWS/GCP/Azure）或私有雲 / 地端部署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▶ 權限控管：RBAC 角色權限 + 操作審計日誌 + 資料脫敏處理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導入效益分析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Microsoft JhengHei"/>
              </a:defRPr>
            </a:pPr>
            <a:r>
              <a:t>量化指標與預期成果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697480" cy="256032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697480" cy="7315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DFF"/>
                </a:solidFill>
                <a:latin typeface="Microsoft JhengHei"/>
              </a:defRPr>
            </a:pPr>
            <a:r>
              <a:t>65%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客服自動化比例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JhengHei"/>
              </a:defRPr>
            </a:pPr>
            <a:r>
              <a:t>一線問題由 AI Agent 自動解決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188720"/>
            <a:ext cx="2697480" cy="256032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188720"/>
            <a:ext cx="26974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4630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3AED"/>
                </a:solidFill>
                <a:latin typeface="Microsoft JhengHei"/>
              </a:defRPr>
            </a:pPr>
            <a:r>
              <a:t>3.2x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4688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行銷互動提升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260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JhengHei"/>
              </a:defRPr>
            </a:pPr>
            <a:r>
              <a:t>個人化推薦點擊率倍數成長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188720"/>
            <a:ext cx="2697480" cy="256032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1188720"/>
            <a:ext cx="2697480" cy="73152"/>
          </a:xfrm>
          <a:prstGeom prst="rect">
            <a:avLst/>
          </a:prstGeom>
          <a:solidFill>
            <a:srgbClr val="00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39" y="14630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88D"/>
                </a:solidFill>
                <a:latin typeface="Microsoft JhengHei"/>
              </a:defRPr>
            </a:pPr>
            <a: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24688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營運效率提升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29260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JhengHei"/>
              </a:defRPr>
            </a:pPr>
            <a:r>
              <a:t>庫存管理與跟單自動化節省人力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1188720"/>
            <a:ext cx="2697480" cy="256032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19" y="1188720"/>
            <a:ext cx="269748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599" y="14630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B35"/>
                </a:solidFill>
                <a:latin typeface="Microsoft JhengHei"/>
              </a:defRPr>
            </a:pPr>
            <a:r>
              <a:t>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24688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顧客滿意度提升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29260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JhengHei"/>
              </a:defRPr>
            </a:pPr>
            <a:r>
              <a:t>即時回應 + 個人化體驗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23360"/>
            <a:ext cx="11064240" cy="201168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JhengHei"/>
              </a:defRPr>
            </a:pPr>
            <a:r>
              <a:t>💰 投資回報預估（以年營收 NT$5,000 萬之電商為例）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▶ 人力節省：減少 4-6 名客服人員 → 年省約 NT$200-300 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▶ 營收增長：購物車挽回 + 個人化推薦 → 年增營收 NT$500-800 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▶ IT 成本：方案費用約 NT$60-150 萬/年 → ROI 首年即可達 3-5 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合作方案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Microsoft JhengHei"/>
              </a:defRPr>
            </a:pPr>
            <a:r>
              <a:t>三種合作模式，彈性導入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438912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73152"/>
          </a:xfrm>
          <a:prstGeom prst="rect">
            <a:avLst/>
          </a:prstGeom>
          <a:solidFill>
            <a:srgbClr val="00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88D"/>
                </a:solidFill>
                <a:latin typeface="Microsoft JhengHei"/>
              </a:defRPr>
            </a:pPr>
            <a:r>
              <a:t>🌱 輕量方案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NT$ 60 萬 / 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• 單渠道 AI 客服機器人</a:t>
            </a:r>
            <a:br/>
            <a:r>
              <a:t>• 基本 CRM 整合</a:t>
            </a:r>
            <a:br/>
            <a:r>
              <a:t>• 5 個自動化流程</a:t>
            </a:r>
            <a:br/>
            <a:r>
              <a:t>• 每月成效報告</a:t>
            </a:r>
            <a:br/>
            <a:r>
              <a:t>• Email + LINE 支援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  <a:latin typeface="Microsoft JhengHei"/>
              </a:defRPr>
            </a:pPr>
            <a:r>
              <a:t>適合：小型電商</a:t>
            </a:r>
            <a:br/>
            <a:r>
              <a:t>快速導入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566160" cy="438912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566160" cy="7315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DFF"/>
                </a:solidFill>
                <a:latin typeface="Microsoft JhengHei"/>
              </a:defRPr>
            </a:pPr>
            <a:r>
              <a:t>🚀 標準方案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NT$ 120 萬 / 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860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• 多渠道 AI 客服 + 推薦</a:t>
            </a:r>
            <a:br/>
            <a:r>
              <a:t>• 完整 CRM 串接</a:t>
            </a:r>
            <a:br/>
            <a:r>
              <a:t>• 15 個自動化流程</a:t>
            </a:r>
            <a:br/>
            <a:r>
              <a:t>• A/B 測試 + 優化建議</a:t>
            </a:r>
            <a:br/>
            <a:r>
              <a:t>• 優先技術支援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389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  <a:latin typeface="Microsoft JhengHei"/>
              </a:defRPr>
            </a:pPr>
            <a:r>
              <a:t>適合：中型電商/零售</a:t>
            </a:r>
            <a:br/>
            <a:r>
              <a:t>全面導入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88720"/>
            <a:ext cx="3566160" cy="438912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5661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3AED"/>
                </a:solidFill>
                <a:latin typeface="Microsoft JhengHei"/>
              </a:defRPr>
            </a:pPr>
            <a:r>
              <a:t>👑 旗艦方案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NT$ 240 萬 / 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860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• 全場景 AI Agent 部署</a:t>
            </a:r>
            <a:br/>
            <a:r>
              <a:t>• 私有化模型 + 地端/混合雲</a:t>
            </a:r>
            <a:br/>
            <a:r>
              <a:t>• 無限流程 + 客製開發</a:t>
            </a:r>
            <a:br/>
            <a:r>
              <a:t>• 專屬 AI 訓練與調校</a:t>
            </a:r>
            <a:br/>
            <a:r>
              <a:t>• 24/7 專屬客戶成功經理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389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  <a:latin typeface="Microsoft JhengHei"/>
              </a:defRPr>
            </a:pPr>
            <a:r>
              <a:t>適合：大型零售集團</a:t>
            </a:r>
            <a:br/>
            <a:r>
              <a:t>深度定制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成功案例參考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Microsoft JhengHei"/>
              </a:defRPr>
            </a:pPr>
            <a:r>
              <a:t>Reference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32004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7315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DFF"/>
                </a:solidFill>
                <a:latin typeface="Microsoft JhengHei"/>
              </a:defRPr>
            </a:pPr>
            <a:r>
              <a:t>某知名服飾電商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導入 AI Agent 客服</a:t>
            </a:r>
            <a:br/>
            <a:r>
              <a:t>支援 LINE / FB / Web 三渠道</a:t>
            </a:r>
            <a:br/>
            <a:r>
              <a:t>客服量單月 12,000+ 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Microsoft JhengHei"/>
              </a:defRPr>
            </a:pPr>
            <a:r>
              <a:t>問題解決率 83%</a:t>
            </a:r>
            <a:br/>
            <a:r>
              <a:t>人力節省 58%</a:t>
            </a:r>
            <a:br/>
            <a:r>
              <a:t>NPS 由 32 提升至 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566160" cy="32004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566160" cy="73152"/>
          </a:xfrm>
          <a:prstGeom prst="rect">
            <a:avLst/>
          </a:prstGeom>
          <a:solidFill>
            <a:srgbClr val="00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88D"/>
                </a:solidFill>
                <a:latin typeface="Microsoft JhengHei"/>
              </a:defRPr>
            </a:pPr>
            <a:r>
              <a:t>連鎖超市 (200+ 門市)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店員 AI 助手</a:t>
            </a:r>
            <a:br/>
            <a:r>
              <a:t>智慧庫存管理</a:t>
            </a:r>
            <a:br/>
            <a:r>
              <a:t>會員辨識與推薦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Microsoft JhengHei"/>
              </a:defRPr>
            </a:pPr>
            <a:r>
              <a:t>庫存成本降 22%</a:t>
            </a:r>
            <a:br/>
            <a:r>
              <a:t>VIP 客單提升 41%</a:t>
            </a:r>
            <a:br/>
            <a:r>
              <a:t>新訓時間縮短 60%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88720"/>
            <a:ext cx="3566160" cy="32004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35661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  <a:latin typeface="Microsoft JhengHei"/>
              </a:defRPr>
            </a:pPr>
            <a:r>
              <a:t>跨境電商平台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JhengHei"/>
              </a:defRPr>
            </a:pPr>
            <a:r>
              <a:t>多語言 AI Agent</a:t>
            </a:r>
            <a:br/>
            <a:r>
              <a:t>24/7 自動客服</a:t>
            </a:r>
            <a:br/>
            <a:r>
              <a:t>自動跟單與物流查詢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9260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Microsoft JhengHei"/>
              </a:defRPr>
            </a:pPr>
            <a:r>
              <a:t>跨語言客服省 45% 成本</a:t>
            </a:r>
            <a:br/>
            <a:r>
              <a:t>購物車挽回率升至 31%</a:t>
            </a:r>
            <a:br/>
            <a:r>
              <a:t>年營收增 NT$1,200 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63440"/>
            <a:ext cx="11247120" cy="13716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💬 「導入 AI Agent 後，我們的客服團隊從被動接電話轉為主動經營會員關係，這是過去五年最有價值的技術投資。」</a:t>
            </a:r>
            <a:br/>
            <a:r>
              <a:t>— 某大型零售集團 IT 副總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B4D8"/>
                </a:solidFill>
                <a:latin typeface="Microsoft JhengHei"/>
              </a:defRPr>
            </a:pPr>
            <a:r>
              <a:t>結語與下一步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讓 AI Agent 成為您</a:t>
            </a:r>
            <a:br/>
            <a:r>
              <a:t>CRM 的智慧大腦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291840"/>
            <a:ext cx="2743200" cy="54864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3657600"/>
            <a:ext cx="9966960" cy="1828800"/>
          </a:xfrm>
          <a:prstGeom prst="roundRect">
            <a:avLst/>
          </a:prstGeom>
          <a:solidFill>
            <a:srgbClr val="2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Microsoft JhengHei"/>
              </a:defRPr>
            </a:pPr>
            <a:r>
              <a:t>💬 Step 1：免費諮詢 — 了解貴公司現況與需求（約 1 小時）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062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Microsoft JhengHei"/>
              </a:defRPr>
            </a:pPr>
            <a:r>
              <a:t>📋 Step 2：POC 證明 — 選定一個場景進行 2 週概念驗證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Microsoft JhengHei"/>
              </a:defRPr>
            </a:pPr>
            <a:r>
              <a:t>🚀 Step 3：導入規劃 — 量身制定導入藍圖與時程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377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Microsoft JhengHei"/>
              </a:defRPr>
            </a:pPr>
            <a:r>
              <a:t>📈 Step 4：上線優化 — 逐步上線 + 持續調校 + 成效追蹤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聯絡我們：contact@aiagent-crm.com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JhengHei"/>
              </a:defRPr>
            </a:pPr>
            <a:r>
              <a:t>官網：www.aiagent-crm.com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0" y="1371600"/>
            <a:ext cx="1828800" cy="1828800"/>
          </a:xfrm>
          <a:prstGeom prst="ellipse">
            <a:avLst/>
          </a:prstGeom>
          <a:solidFill>
            <a:srgbClr val="006DFF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0" y="731520"/>
            <a:ext cx="1097280" cy="1097280"/>
          </a:xfrm>
          <a:prstGeom prst="ellipse">
            <a:avLst/>
          </a:prstGeom>
          <a:solidFill>
            <a:srgbClr val="00B4D8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