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B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16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816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0" y="731520"/>
            <a:ext cx="3200400" cy="3200400"/>
          </a:xfrm>
          <a:prstGeom prst="ellipse">
            <a:avLst/>
          </a:prstGeom>
          <a:solidFill>
            <a:srgbClr val="8163FC">
              <a:lumMod val="35000"/>
              <a:lumOff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326880" y="1280160"/>
            <a:ext cx="2286000" cy="2286000"/>
          </a:xfrm>
          <a:prstGeom prst="ellipse">
            <a:avLst/>
          </a:prstGeom>
          <a:solidFill>
            <a:srgbClr val="2DD4BF">
              <a:lumMod val="35000"/>
              <a:lumOff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132320" y="1828800"/>
            <a:ext cx="1828800" cy="1828800"/>
          </a:xfrm>
          <a:prstGeom prst="ellipse">
            <a:avLst/>
          </a:prstGeom>
          <a:solidFill>
            <a:srgbClr val="F472B6">
              <a:lumMod val="35000"/>
              <a:lumOff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731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AA"/>
                </a:solidFill>
                <a:latin typeface="Microsoft JhengHei"/>
              </a:defRPr>
            </a:pPr>
            <a:r>
              <a:t>AI AGENT 技術深究系列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0" b="1">
                <a:solidFill>
                  <a:srgbClr val="FFFFFF"/>
                </a:solidFill>
                <a:latin typeface="Microsoft JhengHei"/>
              </a:defRPr>
            </a:pPr>
            <a:r>
              <a:t>AI Agent 常用</a:t>
            </a:r>
            <a:br/>
            <a:r>
              <a:t>Skills 介紹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017520"/>
            <a:ext cx="2286000" cy="54864"/>
          </a:xfrm>
          <a:prstGeom prst="rect">
            <a:avLst/>
          </a:prstGeom>
          <a:solidFill>
            <a:srgbClr val="816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3832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888AA"/>
                </a:solidFill>
                <a:latin typeface="Microsoft JhengHei"/>
              </a:defRPr>
            </a:pPr>
            <a:r>
              <a:t>從工具調用到多模態理解，全面解析 AI Agent 的核心技能組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14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AA"/>
                </a:solidFill>
                <a:latin typeface="Microsoft JhengHei"/>
              </a:defRPr>
            </a:pPr>
            <a:r>
              <a:t>2026 技術專題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572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AA"/>
                </a:solidFill>
                <a:latin typeface="Microsoft JhengHei"/>
              </a:defRPr>
            </a:pPr>
            <a:r>
              <a:t>Powered by AI Agent Ecosystem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5029200"/>
            <a:ext cx="1920240" cy="347472"/>
          </a:xfrm>
          <a:prstGeom prst="roundRect">
            <a:avLst/>
          </a:prstGeom>
          <a:solidFill>
            <a:srgbClr val="2A2545"/>
          </a:solidFill>
          <a:ln w="12700">
            <a:solidFill>
              <a:srgbClr val="2A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5047488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Microsoft JhengHei"/>
              </a:defRPr>
            </a:pPr>
            <a:r>
              <a:t>🔍 Web Search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75520" y="5029200"/>
            <a:ext cx="1920240" cy="347472"/>
          </a:xfrm>
          <a:prstGeom prst="roundRect">
            <a:avLst/>
          </a:prstGeom>
          <a:solidFill>
            <a:srgbClr val="2A2545"/>
          </a:solidFill>
          <a:ln w="12700">
            <a:solidFill>
              <a:srgbClr val="2A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12680" y="5047488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Microsoft JhengHei"/>
              </a:defRPr>
            </a:pPr>
            <a:r>
              <a:t>💻 Code Gen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5440680"/>
            <a:ext cx="1920240" cy="347472"/>
          </a:xfrm>
          <a:prstGeom prst="roundRect">
            <a:avLst/>
          </a:prstGeom>
          <a:solidFill>
            <a:srgbClr val="2A2545"/>
          </a:solidFill>
          <a:ln w="12700">
            <a:solidFill>
              <a:srgbClr val="2A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09560" y="5458968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Microsoft JhengHei"/>
              </a:defRPr>
            </a:pPr>
            <a:r>
              <a:t>📈 Analysis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875520" y="5440680"/>
            <a:ext cx="1920240" cy="347472"/>
          </a:xfrm>
          <a:prstGeom prst="roundRect">
            <a:avLst/>
          </a:prstGeom>
          <a:solidFill>
            <a:srgbClr val="2A2545"/>
          </a:solidFill>
          <a:ln w="12700">
            <a:solidFill>
              <a:srgbClr val="2A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12680" y="5458968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Microsoft JhengHei"/>
              </a:defRPr>
            </a:pPr>
            <a:r>
              <a:t>🖼 Image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0" y="5852160"/>
            <a:ext cx="1920240" cy="347472"/>
          </a:xfrm>
          <a:prstGeom prst="roundRect">
            <a:avLst/>
          </a:prstGeom>
          <a:solidFill>
            <a:srgbClr val="2A2545"/>
          </a:solidFill>
          <a:ln w="12700">
            <a:solidFill>
              <a:srgbClr val="2A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09560" y="5870448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Microsoft JhengHei"/>
              </a:defRPr>
            </a:pPr>
            <a:r>
              <a:t>📡 API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875520" y="5852160"/>
            <a:ext cx="1920240" cy="347472"/>
          </a:xfrm>
          <a:prstGeom prst="roundRect">
            <a:avLst/>
          </a:prstGeom>
          <a:solidFill>
            <a:srgbClr val="2A2545"/>
          </a:solidFill>
          <a:ln w="12700">
            <a:solidFill>
              <a:srgbClr val="2A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12680" y="5870448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Microsoft JhengHei"/>
              </a:defRPr>
            </a:pPr>
            <a:r>
              <a:t>🧠 Planning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0" y="6263640"/>
            <a:ext cx="1920240" cy="347472"/>
          </a:xfrm>
          <a:prstGeom prst="roundRect">
            <a:avLst/>
          </a:prstGeom>
          <a:solidFill>
            <a:srgbClr val="2A2545"/>
          </a:solidFill>
          <a:ln w="12700">
            <a:solidFill>
              <a:srgbClr val="2A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09560" y="6281928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Microsoft JhengHei"/>
              </a:defRPr>
            </a:pPr>
            <a:r>
              <a:t>💾 Memory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875520" y="6263640"/>
            <a:ext cx="1920240" cy="347472"/>
          </a:xfrm>
          <a:prstGeom prst="roundRect">
            <a:avLst/>
          </a:prstGeom>
          <a:solidFill>
            <a:srgbClr val="2A2545"/>
          </a:solidFill>
          <a:ln w="12700">
            <a:solidFill>
              <a:srgbClr val="2A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12680" y="6281928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Microsoft JhengHei"/>
              </a:defRPr>
            </a:pPr>
            <a:r>
              <a:t>🌐 Multi-modal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B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16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16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Microsoft JhengHei"/>
              </a:defRPr>
            </a:pPr>
            <a:r>
              <a:t>議 程 內 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888AA"/>
                </a:solidFill>
                <a:latin typeface="Microsoft JhengHei"/>
              </a:defRPr>
            </a:pPr>
            <a:r>
              <a:t>AGENDA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5303520" cy="960120"/>
          </a:xfrm>
          <a:prstGeom prst="roundRect">
            <a:avLst/>
          </a:prstGeom>
          <a:solidFill>
            <a:srgbClr val="1A152E"/>
          </a:solidFill>
          <a:ln w="12700">
            <a:solidFill>
              <a:srgbClr val="2A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240280"/>
            <a:ext cx="640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8163FC"/>
                </a:solidFill>
                <a:latin typeface="Microsoft JhengHe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24028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JhengHei"/>
              </a:defRPr>
            </a:pPr>
            <a:r>
              <a:t>什麼是 AI Agent Skills？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69748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88AA"/>
                </a:solidFill>
                <a:latin typeface="Microsoft JhengHei"/>
              </a:defRPr>
            </a:pPr>
            <a:r>
              <a:t>技能系統的核心概念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194560"/>
            <a:ext cx="5303520" cy="960120"/>
          </a:xfrm>
          <a:prstGeom prst="roundRect">
            <a:avLst/>
          </a:prstGeom>
          <a:solidFill>
            <a:srgbClr val="1A152E"/>
          </a:solidFill>
          <a:ln w="12700">
            <a:solidFill>
              <a:srgbClr val="2A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2240280"/>
            <a:ext cx="640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8163FC"/>
                </a:solidFill>
                <a:latin typeface="Microsoft JhengHei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224028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JhengHei"/>
              </a:defRPr>
            </a:pPr>
            <a:r>
              <a:t>資訊獲取類 Skills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269748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88AA"/>
                </a:solidFill>
                <a:latin typeface="Microsoft JhengHei"/>
              </a:defRPr>
            </a:pPr>
            <a:r>
              <a:t>Web Search · 檔案讀取 · 網頁爬取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337560"/>
            <a:ext cx="5303520" cy="960120"/>
          </a:xfrm>
          <a:prstGeom prst="roundRect">
            <a:avLst/>
          </a:prstGeom>
          <a:solidFill>
            <a:srgbClr val="1A152E"/>
          </a:solidFill>
          <a:ln w="12700">
            <a:solidFill>
              <a:srgbClr val="2A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383280"/>
            <a:ext cx="640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8163FC"/>
                </a:solidFill>
                <a:latin typeface="Microsoft JhengHei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338328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JhengHei"/>
              </a:defRPr>
            </a:pPr>
            <a:r>
              <a:t>程式執行類 Skills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84048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88AA"/>
                </a:solidFill>
                <a:latin typeface="Microsoft JhengHei"/>
              </a:defRPr>
            </a:pPr>
            <a:r>
              <a:t>Code Gen · Code Run · Debug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3337560"/>
            <a:ext cx="5303520" cy="960120"/>
          </a:xfrm>
          <a:prstGeom prst="roundRect">
            <a:avLst/>
          </a:prstGeom>
          <a:solidFill>
            <a:srgbClr val="1A152E"/>
          </a:solidFill>
          <a:ln w="12700">
            <a:solidFill>
              <a:srgbClr val="2A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9400" y="3383280"/>
            <a:ext cx="640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8163FC"/>
                </a:solidFill>
                <a:latin typeface="Microsoft JhengHei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80" y="338328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JhengHei"/>
              </a:defRPr>
            </a:pPr>
            <a:r>
              <a:t>內容生成類 Skills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80" y="384048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88AA"/>
                </a:solidFill>
                <a:latin typeface="Microsoft JhengHei"/>
              </a:defRPr>
            </a:pPr>
            <a:r>
              <a:t>文字 · 圖片 · 文件生成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480560"/>
            <a:ext cx="5303520" cy="960120"/>
          </a:xfrm>
          <a:prstGeom prst="roundRect">
            <a:avLst/>
          </a:prstGeom>
          <a:solidFill>
            <a:srgbClr val="1A152E"/>
          </a:solidFill>
          <a:ln w="12700">
            <a:solidFill>
              <a:srgbClr val="2A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526280"/>
            <a:ext cx="640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8163FC"/>
                </a:solidFill>
                <a:latin typeface="Microsoft JhengHei"/>
              </a:defRPr>
            </a:pPr>
            <a: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452628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JhengHei"/>
              </a:defRPr>
            </a:pPr>
            <a:r>
              <a:t>資料處理類 Skills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00200" y="498348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88AA"/>
                </a:solidFill>
                <a:latin typeface="Microsoft JhengHei"/>
              </a:defRPr>
            </a:pPr>
            <a:r>
              <a:t>分析 · 視覺化 · 資料庫操作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4480560"/>
            <a:ext cx="5303520" cy="960120"/>
          </a:xfrm>
          <a:prstGeom prst="roundRect">
            <a:avLst/>
          </a:prstGeom>
          <a:solidFill>
            <a:srgbClr val="1A152E"/>
          </a:solidFill>
          <a:ln w="12700">
            <a:solidFill>
              <a:srgbClr val="2A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29400" y="4526280"/>
            <a:ext cx="640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8163FC"/>
                </a:solidFill>
                <a:latin typeface="Microsoft JhengHei"/>
              </a:defRPr>
            </a:pPr>
            <a: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69480" y="452628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JhengHei"/>
              </a:defRPr>
            </a:pPr>
            <a:r>
              <a:t>工具串接類 Skills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69480" y="498348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88AA"/>
                </a:solidFill>
                <a:latin typeface="Microsoft JhengHei"/>
              </a:defRPr>
            </a:pPr>
            <a:r>
              <a:t>API · Function Calling · 通訊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5623560"/>
            <a:ext cx="5303520" cy="960120"/>
          </a:xfrm>
          <a:prstGeom prst="roundRect">
            <a:avLst/>
          </a:prstGeom>
          <a:solidFill>
            <a:srgbClr val="1A152E"/>
          </a:solidFill>
          <a:ln w="12700">
            <a:solidFill>
              <a:srgbClr val="2A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" y="5669280"/>
            <a:ext cx="640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8163FC"/>
                </a:solidFill>
                <a:latin typeface="Microsoft JhengHei"/>
              </a:defRPr>
            </a:pPr>
            <a: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00200" y="566928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JhengHei"/>
              </a:defRPr>
            </a:pPr>
            <a:r>
              <a:t>進階 Skills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00200" y="612648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88AA"/>
                </a:solidFill>
                <a:latin typeface="Microsoft JhengHei"/>
              </a:defRPr>
            </a:pPr>
            <a:r>
              <a:t>規劃 · 記憶 · 多模態理解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5623560"/>
            <a:ext cx="5303520" cy="960120"/>
          </a:xfrm>
          <a:prstGeom prst="roundRect">
            <a:avLst/>
          </a:prstGeom>
          <a:solidFill>
            <a:srgbClr val="1A152E"/>
          </a:solidFill>
          <a:ln w="12700">
            <a:solidFill>
              <a:srgbClr val="2A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29400" y="5669280"/>
            <a:ext cx="640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8163FC"/>
                </a:solidFill>
                <a:latin typeface="Microsoft JhengHei"/>
              </a:defRPr>
            </a:pPr>
            <a:r>
              <a:t>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69480" y="566928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JhengHei"/>
              </a:defRPr>
            </a:pPr>
            <a:r>
              <a:t>實戰組合應用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69480" y="612648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88AA"/>
                </a:solidFill>
                <a:latin typeface="Microsoft JhengHei"/>
              </a:defRPr>
            </a:pPr>
            <a:r>
              <a:t>如何組合 Skills 解決真實問題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B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16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16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Microsoft JhengHei"/>
              </a:defRPr>
            </a:pPr>
            <a:r>
              <a:t>什麼是 AI Agent Skills？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888AA"/>
                </a:solidFill>
                <a:latin typeface="Microsoft JhengHei"/>
              </a:defRPr>
            </a:pPr>
            <a:r>
              <a:t>技能系統的核心概念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11064240" cy="1371600"/>
          </a:xfrm>
          <a:prstGeom prst="roundRect">
            <a:avLst/>
          </a:prstGeom>
          <a:solidFill>
            <a:srgbClr val="1A152E"/>
          </a:solidFill>
          <a:ln w="12700">
            <a:solidFill>
              <a:srgbClr val="2A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103120"/>
            <a:ext cx="73152" cy="1371600"/>
          </a:xfrm>
          <a:prstGeom prst="rect">
            <a:avLst/>
          </a:prstGeom>
          <a:solidFill>
            <a:srgbClr val="816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8163FC"/>
                </a:solidFill>
                <a:latin typeface="Microsoft JhengHei"/>
              </a:defRPr>
            </a:pPr>
            <a:r>
              <a:t>💡 什麼是 Skill？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517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  <a:latin typeface="Microsoft JhengHei"/>
              </a:defRPr>
            </a:pPr>
            <a:r>
              <a:t>Skill 是 AI Agent 可以調用的具體能力單元，類似人類的「工具使用技能」。每個 Skill 封裝了特定的功能介面，</a:t>
            </a:r>
            <a:br/>
            <a:r>
              <a:t>Agent 根據任務需求動態選擇並組合多個 Skills 來完成複雜任務。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749039"/>
            <a:ext cx="3566160" cy="2286000"/>
          </a:xfrm>
          <a:prstGeom prst="roundRect">
            <a:avLst/>
          </a:prstGeom>
          <a:solidFill>
            <a:srgbClr val="1A152E"/>
          </a:solidFill>
          <a:ln w="12700">
            <a:solidFill>
              <a:srgbClr val="2A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3749039"/>
            <a:ext cx="3566160" cy="54864"/>
          </a:xfrm>
          <a:prstGeom prst="rect">
            <a:avLst/>
          </a:prstGeom>
          <a:solidFill>
            <a:srgbClr val="816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9319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8163FC"/>
                </a:solidFill>
                <a:latin typeface="Microsoft JhengHei"/>
              </a:defRPr>
            </a:pPr>
            <a:r>
              <a:t>🧰 模組化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57200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  <a:latin typeface="Microsoft JhengHei"/>
              </a:defRPr>
            </a:pPr>
            <a:r>
              <a:t>每個 Skill 獨立封裝</a:t>
            </a:r>
            <a:br/>
            <a:r>
              <a:t>可插拔、可替換</a:t>
            </a:r>
            <a:br/>
            <a:r>
              <a:t>降低系統耦合度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3749039"/>
            <a:ext cx="3566160" cy="2286000"/>
          </a:xfrm>
          <a:prstGeom prst="roundRect">
            <a:avLst/>
          </a:prstGeom>
          <a:solidFill>
            <a:srgbClr val="1A152E"/>
          </a:solidFill>
          <a:ln w="12700">
            <a:solidFill>
              <a:srgbClr val="2A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3749039"/>
            <a:ext cx="3566160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39319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DD4BF"/>
                </a:solidFill>
                <a:latin typeface="Microsoft JhengHei"/>
              </a:defRPr>
            </a:pPr>
            <a:r>
              <a:t>🔗 可組合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457200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  <a:latin typeface="Microsoft JhengHei"/>
              </a:defRPr>
            </a:pPr>
            <a:r>
              <a:t>多個 Skills 可串聯使用</a:t>
            </a:r>
            <a:br/>
            <a:r>
              <a:t>形成複雜工作流</a:t>
            </a:r>
            <a:br/>
            <a:r>
              <a:t>Agent 自動編排順序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3749039"/>
            <a:ext cx="3566160" cy="2286000"/>
          </a:xfrm>
          <a:prstGeom prst="roundRect">
            <a:avLst/>
          </a:prstGeom>
          <a:solidFill>
            <a:srgbClr val="1A152E"/>
          </a:solidFill>
          <a:ln w="12700">
            <a:solidFill>
              <a:srgbClr val="2A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0" y="3749039"/>
            <a:ext cx="3566160" cy="54864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0" y="39319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472B6"/>
                </a:solidFill>
                <a:latin typeface="Microsoft JhengHei"/>
              </a:defRPr>
            </a:pPr>
            <a:r>
              <a:t>💡 可擴展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457200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  <a:latin typeface="Microsoft JhengHei"/>
              </a:defRPr>
            </a:pPr>
            <a:r>
              <a:t>可自訂開發新 Skill</a:t>
            </a:r>
            <a:br/>
            <a:r>
              <a:t>社群生態持續增長</a:t>
            </a:r>
            <a:br/>
            <a:r>
              <a:t>依場景動態載入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B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16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16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Microsoft JhengHei"/>
              </a:defRPr>
            </a:pPr>
            <a:r>
              <a:t>核心技能分類總覽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888AA"/>
                </a:solidFill>
                <a:latin typeface="Microsoft JhengHei"/>
              </a:defRPr>
            </a:pPr>
            <a:r>
              <a:t>五大分類 · 常見 Skills 一覽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194560"/>
            <a:ext cx="2148840" cy="3840480"/>
          </a:xfrm>
          <a:prstGeom prst="roundRect">
            <a:avLst/>
          </a:prstGeom>
          <a:solidFill>
            <a:srgbClr val="1A152E"/>
          </a:solidFill>
          <a:ln w="12700">
            <a:solidFill>
              <a:srgbClr val="2A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194560"/>
            <a:ext cx="2148840" cy="54864"/>
          </a:xfrm>
          <a:prstGeom prst="rect">
            <a:avLst/>
          </a:prstGeom>
          <a:solidFill>
            <a:srgbClr val="816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37744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8163FC"/>
                </a:solidFill>
                <a:latin typeface="Microsoft JhengHei"/>
              </a:defRPr>
            </a:pPr>
            <a:r>
              <a:t>🔍 資訊獲取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26080"/>
            <a:ext cx="1783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BBBCC"/>
                </a:solidFill>
                <a:latin typeface="Microsoft JhengHei"/>
              </a:defRPr>
            </a:pPr>
            <a:r>
              <a:t>Web Search</a:t>
            </a:r>
            <a:br/>
            <a:r>
              <a:t>File Reader</a:t>
            </a:r>
            <a:br/>
            <a:r>
              <a:t>Web Scraper</a:t>
            </a:r>
            <a:br/>
            <a:r>
              <a:t>RSS Reader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97479" y="2194560"/>
            <a:ext cx="2148840" cy="3840480"/>
          </a:xfrm>
          <a:prstGeom prst="roundRect">
            <a:avLst/>
          </a:prstGeom>
          <a:solidFill>
            <a:srgbClr val="1A152E"/>
          </a:solidFill>
          <a:ln w="12700">
            <a:solidFill>
              <a:srgbClr val="2A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697479" y="2194560"/>
            <a:ext cx="2148840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0359" y="237744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DD4BF"/>
                </a:solidFill>
                <a:latin typeface="Microsoft JhengHei"/>
              </a:defRPr>
            </a:pPr>
            <a:r>
              <a:t>💻 程式執行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59" y="2926080"/>
            <a:ext cx="1783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BBBCC"/>
                </a:solidFill>
                <a:latin typeface="Microsoft JhengHei"/>
              </a:defRPr>
            </a:pPr>
            <a:r>
              <a:t>Code Generator</a:t>
            </a:r>
            <a:br/>
            <a:r>
              <a:t>Code Interpreter</a:t>
            </a:r>
            <a:br/>
            <a:r>
              <a:t>Debugger</a:t>
            </a:r>
            <a:br/>
            <a:r>
              <a:t>Shell Exec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2194560"/>
            <a:ext cx="2148840" cy="3840480"/>
          </a:xfrm>
          <a:prstGeom prst="roundRect">
            <a:avLst/>
          </a:prstGeom>
          <a:solidFill>
            <a:srgbClr val="1A152E"/>
          </a:solidFill>
          <a:ln w="12700">
            <a:solidFill>
              <a:srgbClr val="2A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0" y="2194560"/>
            <a:ext cx="2148840" cy="54864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2080" y="237744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472B6"/>
                </a:solidFill>
                <a:latin typeface="Microsoft JhengHei"/>
              </a:defRPr>
            </a:pPr>
            <a:r>
              <a:t>🎨 內容生成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2926080"/>
            <a:ext cx="1783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BBBCC"/>
                </a:solidFill>
                <a:latin typeface="Microsoft JhengHei"/>
              </a:defRPr>
            </a:pPr>
            <a:r>
              <a:t>Text Generator</a:t>
            </a:r>
            <a:br/>
            <a:r>
              <a:t>Image Generator</a:t>
            </a:r>
            <a:br/>
            <a:r>
              <a:t>Document Maker</a:t>
            </a:r>
            <a:br/>
            <a:r>
              <a:t>Slide Creator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60919" y="2194560"/>
            <a:ext cx="2148840" cy="3840480"/>
          </a:xfrm>
          <a:prstGeom prst="roundRect">
            <a:avLst/>
          </a:prstGeom>
          <a:solidFill>
            <a:srgbClr val="1A152E"/>
          </a:solidFill>
          <a:ln w="12700">
            <a:solidFill>
              <a:srgbClr val="2A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60919" y="2194560"/>
            <a:ext cx="2148840" cy="54864"/>
          </a:xfrm>
          <a:prstGeom prst="rect">
            <a:avLst/>
          </a:prstGeom>
          <a:solidFill>
            <a:srgbClr val="FCD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43799" y="237744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CD34F"/>
                </a:solidFill>
                <a:latin typeface="Microsoft JhengHei"/>
              </a:defRPr>
            </a:pPr>
            <a:r>
              <a:t>📊 資料處理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43799" y="2926080"/>
            <a:ext cx="1783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BBBCC"/>
                </a:solidFill>
                <a:latin typeface="Microsoft JhengHei"/>
              </a:defRPr>
            </a:pPr>
            <a:r>
              <a:t>Data Analyzer</a:t>
            </a:r>
            <a:br/>
            <a:r>
              <a:t>Chart Generator</a:t>
            </a:r>
            <a:br/>
            <a:r>
              <a:t>DB Query</a:t>
            </a:r>
            <a:br/>
            <a:r>
              <a:t>Excel Processor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92640" y="2194560"/>
            <a:ext cx="2148840" cy="3840480"/>
          </a:xfrm>
          <a:prstGeom prst="roundRect">
            <a:avLst/>
          </a:prstGeom>
          <a:solidFill>
            <a:srgbClr val="1A152E"/>
          </a:solidFill>
          <a:ln w="12700">
            <a:solidFill>
              <a:srgbClr val="2A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692640" y="2194560"/>
            <a:ext cx="2148840" cy="5486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75520" y="237744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4D399"/>
                </a:solidFill>
                <a:latin typeface="Microsoft JhengHei"/>
              </a:defRPr>
            </a:pPr>
            <a:r>
              <a:t>📡 工具串接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0" y="2926080"/>
            <a:ext cx="1783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BBBCC"/>
                </a:solidFill>
                <a:latin typeface="Microsoft JhengHei"/>
              </a:defRPr>
            </a:pPr>
            <a:r>
              <a:t>API Caller</a:t>
            </a:r>
            <a:br/>
            <a:r>
              <a:t>Function Calling</a:t>
            </a:r>
            <a:br/>
            <a:r>
              <a:t>Email Sender</a:t>
            </a:r>
            <a:br/>
            <a:r>
              <a:t>Webhook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B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16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16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Microsoft JhengHei"/>
              </a:defRPr>
            </a:pPr>
            <a:r>
              <a:t>資訊獲取類 Skills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888AA"/>
                </a:solidFill>
                <a:latin typeface="Microsoft JhengHei"/>
              </a:defRPr>
            </a:pPr>
            <a:r>
              <a:t>Web Search · 檔案讀取 · 網頁爬取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94560"/>
            <a:ext cx="3566160" cy="2286000"/>
          </a:xfrm>
          <a:prstGeom prst="roundRect">
            <a:avLst/>
          </a:prstGeom>
          <a:solidFill>
            <a:srgbClr val="1A152E"/>
          </a:solidFill>
          <a:ln w="12700">
            <a:solidFill>
              <a:srgbClr val="2A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194560"/>
            <a:ext cx="3566160" cy="54864"/>
          </a:xfrm>
          <a:prstGeom prst="rect">
            <a:avLst/>
          </a:prstGeom>
          <a:solidFill>
            <a:srgbClr val="816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8163FC"/>
                </a:solidFill>
                <a:latin typeface="Microsoft JhengHei"/>
              </a:defRPr>
            </a:pPr>
            <a:r>
              <a:t>🔍 Web 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  <a:latin typeface="Microsoft JhengHei"/>
              </a:defRPr>
            </a:pPr>
            <a:r>
              <a:t>• 即時搜尋網際網路資訊</a:t>
            </a:r>
            <a:br/>
            <a:r>
              <a:t>• 支援 Google / Bing / DuckDuckGo</a:t>
            </a:r>
            <a:br/>
            <a:r>
              <a:t>• 回結構化搜尋結果</a:t>
            </a:r>
            <a:br/>
            <a:r>
              <a:t>• 可指定搜尋數量與來源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2194560"/>
            <a:ext cx="3566160" cy="2286000"/>
          </a:xfrm>
          <a:prstGeom prst="roundRect">
            <a:avLst/>
          </a:prstGeom>
          <a:solidFill>
            <a:srgbClr val="1A152E"/>
          </a:solidFill>
          <a:ln w="12700">
            <a:solidFill>
              <a:srgbClr val="2A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2194560"/>
            <a:ext cx="3566160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3774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DD4BF"/>
                </a:solidFill>
                <a:latin typeface="Microsoft JhengHei"/>
              </a:defRPr>
            </a:pPr>
            <a:r>
              <a:t>📄 File Reader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92608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  <a:latin typeface="Microsoft JhengHei"/>
              </a:defRPr>
            </a:pPr>
            <a:r>
              <a:t>• 讀取本機與遠端檔案</a:t>
            </a:r>
            <a:br/>
            <a:r>
              <a:t>• 支援 PDF / Word / Excel / TXT</a:t>
            </a:r>
            <a:br/>
            <a:r>
              <a:t>• 自動解析文件結構</a:t>
            </a:r>
            <a:br/>
            <a:r>
              <a:t>• 搭配 OCR 辨識掃描檔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2194560"/>
            <a:ext cx="3566160" cy="2286000"/>
          </a:xfrm>
          <a:prstGeom prst="roundRect">
            <a:avLst/>
          </a:prstGeom>
          <a:solidFill>
            <a:srgbClr val="1A152E"/>
          </a:solidFill>
          <a:ln w="12700">
            <a:solidFill>
              <a:srgbClr val="2A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2194560"/>
            <a:ext cx="3566160" cy="54864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23774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472B6"/>
                </a:solidFill>
                <a:latin typeface="Microsoft JhengHei"/>
              </a:defRPr>
            </a:pPr>
            <a:r>
              <a:t>🕸 Web Scraper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92608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  <a:latin typeface="Microsoft JhengHei"/>
              </a:defRPr>
            </a:pPr>
            <a:r>
              <a:t>• 提取網頁結構化資料</a:t>
            </a:r>
            <a:br/>
            <a:r>
              <a:t>• 支援 CSS Selector / XPath</a:t>
            </a:r>
            <a:br/>
            <a:r>
              <a:t>• JavaScript 渲染頁面</a:t>
            </a:r>
            <a:br/>
            <a:r>
              <a:t>• 遵守 robots.txt 規範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754880"/>
            <a:ext cx="11247120" cy="1371600"/>
          </a:xfrm>
          <a:prstGeom prst="roundRect">
            <a:avLst/>
          </a:prstGeom>
          <a:solidFill>
            <a:srgbClr val="1A152E"/>
          </a:solidFill>
          <a:ln w="12700">
            <a:solidFill>
              <a:srgbClr val="2A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754880"/>
            <a:ext cx="73152" cy="1371600"/>
          </a:xfrm>
          <a:prstGeom prst="rect">
            <a:avLst/>
          </a:prstGeom>
          <a:solidFill>
            <a:srgbClr val="816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8463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163FC"/>
                </a:solidFill>
                <a:latin typeface="Microsoft JhengHei"/>
              </a:defRPr>
            </a:pPr>
            <a:r>
              <a:t>💡 應用場景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3035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  <a:latin typeface="Microsoft JhengHei"/>
              </a:defRPr>
            </a:pPr>
            <a:r>
              <a:t>市場競品分析：Web Search 蒐集競品資訊 → Web Scraper 提取結構化數據 → File Reader 讀取既有報告 → Agent 綜合產出分析簡報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B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16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16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Microsoft JhengHei"/>
              </a:defRPr>
            </a:pPr>
            <a:r>
              <a:t>程式執行類 Skills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888AA"/>
                </a:solidFill>
                <a:latin typeface="Microsoft JhengHei"/>
              </a:defRPr>
            </a:pPr>
            <a:r>
              <a:t>Code Gen · Code Run · Debug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94560"/>
            <a:ext cx="3566160" cy="2286000"/>
          </a:xfrm>
          <a:prstGeom prst="roundRect">
            <a:avLst/>
          </a:prstGeom>
          <a:solidFill>
            <a:srgbClr val="1A152E"/>
          </a:solidFill>
          <a:ln w="12700">
            <a:solidFill>
              <a:srgbClr val="2A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194560"/>
            <a:ext cx="3566160" cy="54864"/>
          </a:xfrm>
          <a:prstGeom prst="rect">
            <a:avLst/>
          </a:prstGeom>
          <a:solidFill>
            <a:srgbClr val="816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8163FC"/>
                </a:solidFill>
                <a:latin typeface="Microsoft JhengHei"/>
              </a:defRPr>
            </a:pPr>
            <a:r>
              <a:t>💻 Code Generator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  <a:latin typeface="Microsoft JhengHei"/>
              </a:defRPr>
            </a:pPr>
            <a:r>
              <a:t>• 根據需求描述生成程式碼</a:t>
            </a:r>
            <a:br/>
            <a:r>
              <a:t>• 支援多語言（Python/JS/TS/Go）</a:t>
            </a:r>
            <a:br/>
            <a:r>
              <a:t>• 含型別定義與錯誤處理</a:t>
            </a:r>
            <a:br/>
            <a:r>
              <a:t>• 自動產出單元測試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2194560"/>
            <a:ext cx="3566160" cy="2286000"/>
          </a:xfrm>
          <a:prstGeom prst="roundRect">
            <a:avLst/>
          </a:prstGeom>
          <a:solidFill>
            <a:srgbClr val="1A152E"/>
          </a:solidFill>
          <a:ln w="12700">
            <a:solidFill>
              <a:srgbClr val="2A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2194560"/>
            <a:ext cx="3566160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3774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DD4BF"/>
                </a:solidFill>
                <a:latin typeface="Microsoft JhengHei"/>
              </a:defRPr>
            </a:pPr>
            <a:r>
              <a:t>🚀 Code Interpreter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92608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  <a:latin typeface="Microsoft JhengHei"/>
              </a:defRPr>
            </a:pPr>
            <a:r>
              <a:t>• 隔離沙箱執行 Python 程式碼</a:t>
            </a:r>
            <a:br/>
            <a:r>
              <a:t>• 即時執行並回傳結果</a:t>
            </a:r>
            <a:br/>
            <a:r>
              <a:t>• 支援套件安裝</a:t>
            </a:r>
            <a:br/>
            <a:r>
              <a:t>• 資料分析與圖表繪製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2194560"/>
            <a:ext cx="3566160" cy="2286000"/>
          </a:xfrm>
          <a:prstGeom prst="roundRect">
            <a:avLst/>
          </a:prstGeom>
          <a:solidFill>
            <a:srgbClr val="1A152E"/>
          </a:solidFill>
          <a:ln w="12700">
            <a:solidFill>
              <a:srgbClr val="2A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2194560"/>
            <a:ext cx="3566160" cy="54864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23774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472B6"/>
                </a:solidFill>
                <a:latin typeface="Microsoft JhengHei"/>
              </a:defRPr>
            </a:pPr>
            <a:r>
              <a:t>🐛 Debugger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92608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  <a:latin typeface="Microsoft JhengHei"/>
              </a:defRPr>
            </a:pPr>
            <a:r>
              <a:t>• 自動分析錯誤堆疊</a:t>
            </a:r>
            <a:br/>
            <a:r>
              <a:t>• 定位 Bug 位置與原因</a:t>
            </a:r>
            <a:br/>
            <a:r>
              <a:t>• 提供修復建議</a:t>
            </a:r>
            <a:br/>
            <a:r>
              <a:t>• 支援多語言除錯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754880"/>
            <a:ext cx="11247120" cy="1371600"/>
          </a:xfrm>
          <a:prstGeom prst="roundRect">
            <a:avLst/>
          </a:prstGeom>
          <a:solidFill>
            <a:srgbClr val="1A152E"/>
          </a:solidFill>
          <a:ln w="12700">
            <a:solidFill>
              <a:srgbClr val="2A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754880"/>
            <a:ext cx="73152" cy="13716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8463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D4BF"/>
                </a:solidFill>
                <a:latin typeface="Microsoft JhengHei"/>
              </a:defRPr>
            </a:pPr>
            <a:r>
              <a:t>💡 應用場景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3035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  <a:latin typeface="Microsoft JhengHei"/>
              </a:defRPr>
            </a:pPr>
            <a:r>
              <a:t>數據分析自動化：Code Generator 產出分析腳本 → Code Interpreter 執行並產出圖表 → Debugger 自動修正錯誤 → 輸出最終報告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B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16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16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Microsoft JhengHei"/>
              </a:defRPr>
            </a:pPr>
            <a:r>
              <a:t>內容生成類 Skills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888AA"/>
                </a:solidFill>
                <a:latin typeface="Microsoft JhengHei"/>
              </a:defRPr>
            </a:pPr>
            <a:r>
              <a:t>文字 · 圖片 · 文件生成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94560"/>
            <a:ext cx="3566160" cy="2286000"/>
          </a:xfrm>
          <a:prstGeom prst="roundRect">
            <a:avLst/>
          </a:prstGeom>
          <a:solidFill>
            <a:srgbClr val="1A152E"/>
          </a:solidFill>
          <a:ln w="12700">
            <a:solidFill>
              <a:srgbClr val="2A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194560"/>
            <a:ext cx="3566160" cy="54864"/>
          </a:xfrm>
          <a:prstGeom prst="rect">
            <a:avLst/>
          </a:prstGeom>
          <a:solidFill>
            <a:srgbClr val="816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8163FC"/>
                </a:solidFill>
                <a:latin typeface="Microsoft JhengHei"/>
              </a:defRPr>
            </a:pPr>
            <a:r>
              <a:t>📝 Text Generator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  <a:latin typeface="Microsoft JhengHei"/>
              </a:defRPr>
            </a:pPr>
            <a:r>
              <a:t>• 文章/報告/郵件自動撰寫</a:t>
            </a:r>
            <a:br/>
            <a:r>
              <a:t>• 多語言翻譯與在地化</a:t>
            </a:r>
            <a:br/>
            <a:r>
              <a:t>• 摘要生成與改寫</a:t>
            </a:r>
            <a:br/>
            <a:r>
              <a:t>• SEO 優化內容產出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2194560"/>
            <a:ext cx="3566160" cy="2286000"/>
          </a:xfrm>
          <a:prstGeom prst="roundRect">
            <a:avLst/>
          </a:prstGeom>
          <a:solidFill>
            <a:srgbClr val="1A152E"/>
          </a:solidFill>
          <a:ln w="12700">
            <a:solidFill>
              <a:srgbClr val="2A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2194560"/>
            <a:ext cx="3566160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3774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DD4BF"/>
                </a:solidFill>
                <a:latin typeface="Microsoft JhengHei"/>
              </a:defRPr>
            </a:pPr>
            <a:r>
              <a:t>🖼 Image Generator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92608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  <a:latin typeface="Microsoft JhengHei"/>
              </a:defRPr>
            </a:pPr>
            <a:r>
              <a:t>• 根據描述生成圖片</a:t>
            </a:r>
            <a:br/>
            <a:r>
              <a:t>• DALL·E / Stable Diffusion</a:t>
            </a:r>
            <a:br/>
            <a:r>
              <a:t>• 圖片編輯與風格轉換</a:t>
            </a:r>
            <a:br/>
            <a:r>
              <a:t>• 商業素材快速產出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2194560"/>
            <a:ext cx="3566160" cy="2286000"/>
          </a:xfrm>
          <a:prstGeom prst="roundRect">
            <a:avLst/>
          </a:prstGeom>
          <a:solidFill>
            <a:srgbClr val="1A152E"/>
          </a:solidFill>
          <a:ln w="12700">
            <a:solidFill>
              <a:srgbClr val="2A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2194560"/>
            <a:ext cx="3566160" cy="54864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23774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472B6"/>
                </a:solidFill>
                <a:latin typeface="Microsoft JhengHei"/>
              </a:defRPr>
            </a:pPr>
            <a:r>
              <a:t>📄 Document Maker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92608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  <a:latin typeface="Microsoft JhengHei"/>
              </a:defRPr>
            </a:pPr>
            <a:r>
              <a:t>• 自動生成 PDF / PPTX / DOCX</a:t>
            </a:r>
            <a:br/>
            <a:r>
              <a:t>• 報表與簡報自動排版</a:t>
            </a:r>
            <a:br/>
            <a:r>
              <a:t>• 資料驅動的模板填充</a:t>
            </a:r>
            <a:br/>
            <a:r>
              <a:t>• 批量文件生成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754880"/>
            <a:ext cx="11247120" cy="1371600"/>
          </a:xfrm>
          <a:prstGeom prst="roundRect">
            <a:avLst/>
          </a:prstGeom>
          <a:solidFill>
            <a:srgbClr val="1A152E"/>
          </a:solidFill>
          <a:ln w="12700">
            <a:solidFill>
              <a:srgbClr val="2A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754880"/>
            <a:ext cx="73152" cy="137160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8463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472B6"/>
                </a:solidFill>
                <a:latin typeface="Microsoft JhengHei"/>
              </a:defRPr>
            </a:pPr>
            <a:r>
              <a:t>💡 應用場景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3035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  <a:latin typeface="Microsoft JhengHei"/>
              </a:defRPr>
            </a:pPr>
            <a:r>
              <a:t>行銷素材自動化：Text Generator 撰寫社群貼文 → Image Generator 生成配圖 → Document Maker 打包成品牌簡報 → 一次性產出整月素材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B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16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16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Microsoft JhengHei"/>
              </a:defRPr>
            </a:pPr>
            <a:r>
              <a:t>資料處理類 Skills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888AA"/>
                </a:solidFill>
                <a:latin typeface="Microsoft JhengHei"/>
              </a:defRPr>
            </a:pPr>
            <a:r>
              <a:t>分析 · 視覺化 · 資料庫操作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94560"/>
            <a:ext cx="3566160" cy="2286000"/>
          </a:xfrm>
          <a:prstGeom prst="roundRect">
            <a:avLst/>
          </a:prstGeom>
          <a:solidFill>
            <a:srgbClr val="1A152E"/>
          </a:solidFill>
          <a:ln w="12700">
            <a:solidFill>
              <a:srgbClr val="2A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194560"/>
            <a:ext cx="3566160" cy="54864"/>
          </a:xfrm>
          <a:prstGeom prst="rect">
            <a:avLst/>
          </a:prstGeom>
          <a:solidFill>
            <a:srgbClr val="816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8163FC"/>
                </a:solidFill>
                <a:latin typeface="Microsoft JhengHei"/>
              </a:defRPr>
            </a:pPr>
            <a:r>
              <a:t>📊 Data Analyzer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  <a:latin typeface="Microsoft JhengHei"/>
              </a:defRPr>
            </a:pPr>
            <a:r>
              <a:t>• 數據清洗與預處理</a:t>
            </a:r>
            <a:br/>
            <a:r>
              <a:t>• 統計分析與趨勢預測</a:t>
            </a:r>
            <a:br/>
            <a:r>
              <a:t>• 異常值偵測</a:t>
            </a:r>
            <a:br/>
            <a:r>
              <a:t>• 關聯性與迴歸分析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2194560"/>
            <a:ext cx="3566160" cy="2286000"/>
          </a:xfrm>
          <a:prstGeom prst="roundRect">
            <a:avLst/>
          </a:prstGeom>
          <a:solidFill>
            <a:srgbClr val="1A152E"/>
          </a:solidFill>
          <a:ln w="12700">
            <a:solidFill>
              <a:srgbClr val="2A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2194560"/>
            <a:ext cx="3566160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3774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DD4BF"/>
                </a:solidFill>
                <a:latin typeface="Microsoft JhengHei"/>
              </a:defRPr>
            </a:pPr>
            <a:r>
              <a:t>📈 Chart Generator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92608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  <a:latin typeface="Microsoft JhengHei"/>
              </a:defRPr>
            </a:pPr>
            <a:r>
              <a:t>• 自動生成各類型圖表</a:t>
            </a:r>
            <a:br/>
            <a:r>
              <a:t>• 長條圖/折線圖/圓餅圖</a:t>
            </a:r>
            <a:br/>
            <a:r>
              <a:t>• 互動式網頁圖表</a:t>
            </a:r>
            <a:br/>
            <a:r>
              <a:t>• 報表級排版輸出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2194560"/>
            <a:ext cx="3566160" cy="2286000"/>
          </a:xfrm>
          <a:prstGeom prst="roundRect">
            <a:avLst/>
          </a:prstGeom>
          <a:solidFill>
            <a:srgbClr val="1A152E"/>
          </a:solidFill>
          <a:ln w="12700">
            <a:solidFill>
              <a:srgbClr val="2A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2194560"/>
            <a:ext cx="3566160" cy="54864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23774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472B6"/>
                </a:solidFill>
                <a:latin typeface="Microsoft JhengHei"/>
              </a:defRPr>
            </a:pPr>
            <a:r>
              <a:t>💾 DB Query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92608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  <a:latin typeface="Microsoft JhengHei"/>
              </a:defRPr>
            </a:pPr>
            <a:r>
              <a:t>• 自然語言轉 SQL</a:t>
            </a:r>
            <a:br/>
            <a:r>
              <a:t>• 多資料庫支援</a:t>
            </a:r>
            <a:br/>
            <a:r>
              <a:t>• 查詢結果自動分析</a:t>
            </a:r>
            <a:br/>
            <a:r>
              <a:t>• Schema 探索與文件化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754880"/>
            <a:ext cx="11247120" cy="1371600"/>
          </a:xfrm>
          <a:prstGeom prst="roundRect">
            <a:avLst/>
          </a:prstGeom>
          <a:solidFill>
            <a:srgbClr val="1A152E"/>
          </a:solidFill>
          <a:ln w="12700">
            <a:solidFill>
              <a:srgbClr val="2A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754880"/>
            <a:ext cx="73152" cy="1371600"/>
          </a:xfrm>
          <a:prstGeom prst="rect">
            <a:avLst/>
          </a:prstGeom>
          <a:solidFill>
            <a:srgbClr val="FCD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8463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CD34F"/>
                </a:solidFill>
                <a:latin typeface="Microsoft JhengHei"/>
              </a:defRPr>
            </a:pPr>
            <a:r>
              <a:t>💡 應用場景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3035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  <a:latin typeface="Microsoft JhengHei"/>
              </a:defRPr>
            </a:pPr>
            <a:r>
              <a:t>營運報表自動化：DB Query 從資料庫抓取數據 → Data Analyzer 計算 KPI 指標 → Chart Generator 產出趨勢圖表 → 整併為營運儀表板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B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16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16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Microsoft JhengHei"/>
              </a:defRPr>
            </a:pPr>
            <a:r>
              <a:t>工具串接類 Skills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888AA"/>
                </a:solidFill>
                <a:latin typeface="Microsoft JhengHei"/>
              </a:defRPr>
            </a:pPr>
            <a:r>
              <a:t>API · Function Calling · 通訊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94560"/>
            <a:ext cx="3566160" cy="2286000"/>
          </a:xfrm>
          <a:prstGeom prst="roundRect">
            <a:avLst/>
          </a:prstGeom>
          <a:solidFill>
            <a:srgbClr val="1A152E"/>
          </a:solidFill>
          <a:ln w="12700">
            <a:solidFill>
              <a:srgbClr val="2A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194560"/>
            <a:ext cx="3566160" cy="54864"/>
          </a:xfrm>
          <a:prstGeom prst="rect">
            <a:avLst/>
          </a:prstGeom>
          <a:solidFill>
            <a:srgbClr val="816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8163FC"/>
                </a:solidFill>
                <a:latin typeface="Microsoft JhengHei"/>
              </a:defRPr>
            </a:pPr>
            <a:r>
              <a:t>📡 API Caller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  <a:latin typeface="Microsoft JhengHei"/>
              </a:defRPr>
            </a:pPr>
            <a:r>
              <a:t>• 呼叫外部 REST / GraphQL API</a:t>
            </a:r>
            <a:br/>
            <a:r>
              <a:t>• 自動處理認證與重試</a:t>
            </a:r>
            <a:br/>
            <a:r>
              <a:t>• 請求/回應格式轉換</a:t>
            </a:r>
            <a:br/>
            <a:r>
              <a:t>• Webhook 事件監聽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2194560"/>
            <a:ext cx="3566160" cy="2286000"/>
          </a:xfrm>
          <a:prstGeom prst="roundRect">
            <a:avLst/>
          </a:prstGeom>
          <a:solidFill>
            <a:srgbClr val="1A152E"/>
          </a:solidFill>
          <a:ln w="12700">
            <a:solidFill>
              <a:srgbClr val="2A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2194560"/>
            <a:ext cx="3566160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3774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DD4BF"/>
                </a:solidFill>
                <a:latin typeface="Microsoft JhengHei"/>
              </a:defRPr>
            </a:pPr>
            <a:r>
              <a:t>🤖 Function Calling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92608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  <a:latin typeface="Microsoft JhengHei"/>
              </a:defRPr>
            </a:pPr>
            <a:r>
              <a:t>• LLM 自主決定調用函式</a:t>
            </a:r>
            <a:br/>
            <a:r>
              <a:t>• 參數自動填入與驗證</a:t>
            </a:r>
            <a:br/>
            <a:r>
              <a:t>• 多工具並行調度</a:t>
            </a:r>
            <a:br/>
            <a:r>
              <a:t>• 錯誤處理與回退策略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2194560"/>
            <a:ext cx="3566160" cy="2286000"/>
          </a:xfrm>
          <a:prstGeom prst="roundRect">
            <a:avLst/>
          </a:prstGeom>
          <a:solidFill>
            <a:srgbClr val="1A152E"/>
          </a:solidFill>
          <a:ln w="12700">
            <a:solidFill>
              <a:srgbClr val="2A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2194560"/>
            <a:ext cx="3566160" cy="54864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23774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472B6"/>
                </a:solidFill>
                <a:latin typeface="Microsoft JhengHei"/>
              </a:defRPr>
            </a:pPr>
            <a:r>
              <a:t>📨 Communication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92608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  <a:latin typeface="Microsoft JhengHei"/>
              </a:defRPr>
            </a:pPr>
            <a:r>
              <a:t>• Email 發送與管理</a:t>
            </a:r>
            <a:br/>
            <a:r>
              <a:t>• Slack / Teams 訊息推送</a:t>
            </a:r>
            <a:br/>
            <a:r>
              <a:t>• SMS 簡訊通知</a:t>
            </a:r>
            <a:br/>
            <a:r>
              <a:t>• 社群平台自動發文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754880"/>
            <a:ext cx="11247120" cy="1371600"/>
          </a:xfrm>
          <a:prstGeom prst="roundRect">
            <a:avLst/>
          </a:prstGeom>
          <a:solidFill>
            <a:srgbClr val="1A152E"/>
          </a:solidFill>
          <a:ln w="12700">
            <a:solidFill>
              <a:srgbClr val="2A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754880"/>
            <a:ext cx="73152" cy="1371600"/>
          </a:xfrm>
          <a:prstGeom prst="rect">
            <a:avLst/>
          </a:prstGeom>
          <a:solidFill>
            <a:srgbClr val="816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8463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163FC"/>
                </a:solidFill>
                <a:latin typeface="Microsoft JhengHei"/>
              </a:defRPr>
            </a:pPr>
            <a:r>
              <a:t>💡 應用場景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3035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  <a:latin typeface="Microsoft JhengHei"/>
              </a:defRPr>
            </a:pPr>
            <a:r>
              <a:t>客戶服務自動化：Email Skill 接收客戶來信 → Function Calling 判斷意圖並調用 CRM API → API Caller 更新資料庫 → Communication Skill 回覆客戶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B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16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16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Microsoft JhengHei"/>
              </a:defRPr>
            </a:pPr>
            <a:r>
              <a:t>進階 Skills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888AA"/>
                </a:solidFill>
                <a:latin typeface="Microsoft JhengHei"/>
              </a:defRPr>
            </a:pPr>
            <a:r>
              <a:t>規劃 · 記憶 · 多模態理解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94560"/>
            <a:ext cx="2697480" cy="2560320"/>
          </a:xfrm>
          <a:prstGeom prst="roundRect">
            <a:avLst/>
          </a:prstGeom>
          <a:solidFill>
            <a:srgbClr val="1A152E"/>
          </a:solidFill>
          <a:ln w="12700">
            <a:solidFill>
              <a:srgbClr val="2A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194560"/>
            <a:ext cx="2697480" cy="54864"/>
          </a:xfrm>
          <a:prstGeom prst="rect">
            <a:avLst/>
          </a:prstGeom>
          <a:solidFill>
            <a:srgbClr val="816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163FC"/>
                </a:solidFill>
                <a:latin typeface="Microsoft JhengHei"/>
              </a:defRPr>
            </a:pPr>
            <a:r>
              <a:t>🧠 規劃能力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926080"/>
            <a:ext cx="2148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Microsoft JhengHei"/>
              </a:defRPr>
            </a:pPr>
            <a:r>
              <a:t>• 複雜任務分解為子步驟</a:t>
            </a:r>
            <a:br/>
            <a:r>
              <a:t>• 動態調整執行順序</a:t>
            </a:r>
            <a:br/>
            <a:r>
              <a:t>• 依賴關係自動分析</a:t>
            </a:r>
            <a:br/>
            <a:r>
              <a:t>• 失敗重試與替代方案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2194560"/>
            <a:ext cx="2697480" cy="2560320"/>
          </a:xfrm>
          <a:prstGeom prst="roundRect">
            <a:avLst/>
          </a:prstGeom>
          <a:solidFill>
            <a:srgbClr val="1A152E"/>
          </a:solidFill>
          <a:ln w="12700">
            <a:solidFill>
              <a:srgbClr val="2A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29000" y="2194560"/>
            <a:ext cx="2697480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03320" y="237744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D4BF"/>
                </a:solidFill>
                <a:latin typeface="Microsoft JhengHei"/>
              </a:defRPr>
            </a:pPr>
            <a:r>
              <a:t>💾 記憶管理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2926080"/>
            <a:ext cx="2148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Microsoft JhengHei"/>
              </a:defRPr>
            </a:pPr>
            <a:r>
              <a:t>• 短期記憶（會話上下文）</a:t>
            </a:r>
            <a:br/>
            <a:r>
              <a:t>• 長期記憶（向量資料庫）</a:t>
            </a:r>
            <a:br/>
            <a:r>
              <a:t>• 關鍵資訊摘要壓縮</a:t>
            </a:r>
            <a:br/>
            <a:r>
              <a:t>• 跨會話知識檢索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59" y="2194560"/>
            <a:ext cx="2697480" cy="2560320"/>
          </a:xfrm>
          <a:prstGeom prst="roundRect">
            <a:avLst/>
          </a:prstGeom>
          <a:solidFill>
            <a:srgbClr val="1A152E"/>
          </a:solidFill>
          <a:ln w="12700">
            <a:solidFill>
              <a:srgbClr val="2A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59" y="2194560"/>
            <a:ext cx="2697480" cy="54864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79" y="237744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472B6"/>
                </a:solidFill>
                <a:latin typeface="Microsoft JhengHei"/>
              </a:defRPr>
            </a:pPr>
            <a:r>
              <a:t>🌐 多模態理解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79" y="2926080"/>
            <a:ext cx="2148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Microsoft JhengHei"/>
              </a:defRPr>
            </a:pPr>
            <a:r>
              <a:t>• 圖片內容辨識與描述</a:t>
            </a:r>
            <a:br/>
            <a:r>
              <a:t>• 音訊轉文字與分析</a:t>
            </a:r>
            <a:br/>
            <a:r>
              <a:t>• PDF/掃描檔結構解析</a:t>
            </a:r>
            <a:br/>
            <a:r>
              <a:t>• 影片摘要與關鍵幀提取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19" y="2194560"/>
            <a:ext cx="2697480" cy="2560320"/>
          </a:xfrm>
          <a:prstGeom prst="roundRect">
            <a:avLst/>
          </a:prstGeom>
          <a:solidFill>
            <a:srgbClr val="1A152E"/>
          </a:solidFill>
          <a:ln w="12700">
            <a:solidFill>
              <a:srgbClr val="2A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89719" y="2194560"/>
            <a:ext cx="2697480" cy="5486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64039" y="237744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4D399"/>
                </a:solidFill>
                <a:latin typeface="Microsoft JhengHei"/>
              </a:defRPr>
            </a:pPr>
            <a:r>
              <a:t>🔄 自我反思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64039" y="2926080"/>
            <a:ext cx="2148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Microsoft JhengHei"/>
              </a:defRPr>
            </a:pPr>
            <a:r>
              <a:t>• 執行結果自動評估</a:t>
            </a:r>
            <a:br/>
            <a:r>
              <a:t>• 錯誤模式識別與學習</a:t>
            </a:r>
            <a:br/>
            <a:r>
              <a:t>• 策略調整與行為優化</a:t>
            </a:r>
            <a:br/>
            <a:r>
              <a:t>• 持續改進工作流程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029200"/>
            <a:ext cx="11064240" cy="1188720"/>
          </a:xfrm>
          <a:prstGeom prst="roundRect">
            <a:avLst/>
          </a:prstGeom>
          <a:solidFill>
            <a:srgbClr val="1A152E"/>
          </a:solidFill>
          <a:ln w="12700">
            <a:solidFill>
              <a:srgbClr val="2A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5029200"/>
            <a:ext cx="73152" cy="1188720"/>
          </a:xfrm>
          <a:prstGeom prst="rect">
            <a:avLst/>
          </a:prstGeom>
          <a:solidFill>
            <a:srgbClr val="816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120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163FC"/>
                </a:solidFill>
                <a:latin typeface="Microsoft JhengHei"/>
              </a:defRPr>
            </a:pPr>
            <a:r>
              <a:t>💡 進階 Skills 是 AI Agent 從「工具」邁向「自主智能」的關鍵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5778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  <a:latin typeface="Microsoft JhengHei"/>
              </a:defRPr>
            </a:pPr>
            <a:r>
              <a:t>具備規劃 + 記憶 + 反思能力的 Agent 可自主完成跨越多步驟、多工具的複雜任務，且能從錯誤中學習與進步。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B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16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16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Microsoft JhengHei"/>
              </a:defRPr>
            </a:pPr>
            <a:r>
              <a:t>實戰組合應用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888AA"/>
                </a:solidFill>
                <a:latin typeface="Microsoft JhengHei"/>
              </a:defRPr>
            </a:pPr>
            <a:r>
              <a:t>如何組合 Skills 解決真實問題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94560"/>
            <a:ext cx="3566160" cy="3840480"/>
          </a:xfrm>
          <a:prstGeom prst="roundRect">
            <a:avLst/>
          </a:prstGeom>
          <a:solidFill>
            <a:srgbClr val="1A152E"/>
          </a:solidFill>
          <a:ln w="12700">
            <a:solidFill>
              <a:srgbClr val="2A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194560"/>
            <a:ext cx="3566160" cy="54864"/>
          </a:xfrm>
          <a:prstGeom prst="rect">
            <a:avLst/>
          </a:prstGeom>
          <a:solidFill>
            <a:srgbClr val="816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8163FC"/>
                </a:solidFill>
                <a:latin typeface="Microsoft JhengHei"/>
              </a:defRPr>
            </a:pPr>
            <a:r>
              <a:t>📊 競品分析報告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Microsoft JhengHei"/>
              </a:defRPr>
            </a:pPr>
            <a:r>
              <a:t>Web Search</a:t>
            </a:r>
            <a:br/>
            <a:r>
              <a:t>→ 蒐集競品資訊</a:t>
            </a:r>
            <a:br/>
            <a:br/>
            <a:r>
              <a:t>Web Scraper</a:t>
            </a:r>
            <a:br/>
            <a:r>
              <a:t>→ 抓取產品規格</a:t>
            </a:r>
            <a:br/>
            <a:br/>
            <a:r>
              <a:t>Data Analyzer</a:t>
            </a:r>
            <a:br/>
            <a:r>
              <a:t>→ 比較分析</a:t>
            </a:r>
            <a:br/>
            <a:br/>
            <a:r>
              <a:t>Document Maker</a:t>
            </a:r>
            <a:br/>
            <a:r>
              <a:t>→ 產出報告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2194560"/>
            <a:ext cx="3566160" cy="3840480"/>
          </a:xfrm>
          <a:prstGeom prst="roundRect">
            <a:avLst/>
          </a:prstGeom>
          <a:solidFill>
            <a:srgbClr val="1A152E"/>
          </a:solidFill>
          <a:ln w="12700">
            <a:solidFill>
              <a:srgbClr val="2A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2194560"/>
            <a:ext cx="3566160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3774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DD4BF"/>
                </a:solidFill>
                <a:latin typeface="Microsoft JhengHei"/>
              </a:defRPr>
            </a:pPr>
            <a:r>
              <a:t>💰 銷售預測系統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92608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Microsoft JhengHei"/>
              </a:defRPr>
            </a:pPr>
            <a:r>
              <a:t>DB Query</a:t>
            </a:r>
            <a:br/>
            <a:r>
              <a:t>→ 拉取歷史銷售</a:t>
            </a:r>
            <a:br/>
            <a:br/>
            <a:r>
              <a:t>Code Interpreter</a:t>
            </a:r>
            <a:br/>
            <a:r>
              <a:t>→ 建模預測</a:t>
            </a:r>
            <a:br/>
            <a:br/>
            <a:r>
              <a:t>Chart Generator</a:t>
            </a:r>
            <a:br/>
            <a:r>
              <a:t>→ 趨勢圖表</a:t>
            </a:r>
            <a:br/>
            <a:br/>
            <a:r>
              <a:t>Email Sender</a:t>
            </a:r>
            <a:br/>
            <a:r>
              <a:t>→ 自動發送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2194560"/>
            <a:ext cx="3566160" cy="3840480"/>
          </a:xfrm>
          <a:prstGeom prst="roundRect">
            <a:avLst/>
          </a:prstGeom>
          <a:solidFill>
            <a:srgbClr val="1A152E"/>
          </a:solidFill>
          <a:ln w="12700">
            <a:solidFill>
              <a:srgbClr val="2A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2194560"/>
            <a:ext cx="3566160" cy="54864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23774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472B6"/>
                </a:solidFill>
                <a:latin typeface="Microsoft JhengHei"/>
              </a:defRPr>
            </a:pPr>
            <a:r>
              <a:t>🎯 智慧客服機器人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92608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Microsoft JhengHei"/>
              </a:defRPr>
            </a:pPr>
            <a:r>
              <a:t>File Reader</a:t>
            </a:r>
            <a:br/>
            <a:r>
              <a:t>→ 讀取 FAQ</a:t>
            </a:r>
            <a:br/>
            <a:br/>
            <a:r>
              <a:t>Function Calling</a:t>
            </a:r>
            <a:br/>
            <a:r>
              <a:t>→ CRM 查詢</a:t>
            </a:r>
            <a:br/>
            <a:br/>
            <a:r>
              <a:t>API Caller</a:t>
            </a:r>
            <a:br/>
            <a:r>
              <a:t>→ 開立工單</a:t>
            </a:r>
            <a:br/>
            <a:br/>
            <a:r>
              <a:t>Communication</a:t>
            </a:r>
            <a:br/>
            <a:r>
              <a:t>→ 回覆客戶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B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16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816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0" y="914400"/>
            <a:ext cx="2286000" cy="2286000"/>
          </a:xfrm>
          <a:prstGeom prst="ellipse">
            <a:avLst/>
          </a:prstGeom>
          <a:solidFill>
            <a:srgbClr val="8163FC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75520" y="1371600"/>
            <a:ext cx="1645920" cy="1645920"/>
          </a:xfrm>
          <a:prstGeom prst="ellipse">
            <a:avLst/>
          </a:prstGeom>
          <a:solidFill>
            <a:srgbClr val="2DD4BF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AA"/>
                </a:solidFill>
                <a:latin typeface="Microsoft JhengHei"/>
              </a:defRPr>
            </a:pPr>
            <a:r>
              <a:t>結語與下一步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6858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Microsoft JhengHei"/>
              </a:defRPr>
            </a:pPr>
            <a:r>
              <a:t>掌握 Skills 組合</a:t>
            </a:r>
            <a:br/>
            <a:r>
              <a:t>釋放 AI Agent 真正潛力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743200"/>
            <a:ext cx="2286000" cy="54864"/>
          </a:xfrm>
          <a:prstGeom prst="rect">
            <a:avLst/>
          </a:prstGeom>
          <a:solidFill>
            <a:srgbClr val="816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3108960"/>
            <a:ext cx="10332720" cy="1645920"/>
          </a:xfrm>
          <a:prstGeom prst="roundRect">
            <a:avLst/>
          </a:prstGeom>
          <a:solidFill>
            <a:srgbClr val="1A152E"/>
          </a:solidFill>
          <a:ln w="12700">
            <a:solidFill>
              <a:srgbClr val="2A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329184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163FC"/>
                </a:solidFill>
                <a:latin typeface="Microsoft JhengHei"/>
              </a:defRPr>
            </a:pPr>
            <a:r>
              <a:t>💡 給開發者的建議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749039"/>
            <a:ext cx="9418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Microsoft JhengHei"/>
              </a:defRPr>
            </a:pPr>
            <a:r>
              <a:t>▶ 從「單一 Skill」開始熟悉，再慢慢組合多個 Skills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4069079"/>
            <a:ext cx="9418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Microsoft JhengHei"/>
              </a:defRPr>
            </a:pPr>
            <a:r>
              <a:t>▶ 每個任務先思考「需要哪些資訊取得 → 如何處理 → 如何輸出」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4389120"/>
            <a:ext cx="9418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Microsoft JhengHei"/>
              </a:defRPr>
            </a:pPr>
            <a:r>
              <a:t>▶ 善用 Planning Skill 讓 Agent 自主編排工作流程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709159"/>
            <a:ext cx="9418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Microsoft JhengHei"/>
              </a:defRPr>
            </a:pPr>
            <a:r>
              <a:t>▶ 持續迭代 Prompt，讓 Agent 更精準選擇與使用 Skills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5029200"/>
            <a:ext cx="1097280" cy="640080"/>
          </a:xfrm>
          <a:prstGeom prst="roundRect">
            <a:avLst/>
          </a:prstGeom>
          <a:solidFill>
            <a:srgbClr val="2A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047488"/>
            <a:ext cx="10972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Microsoft JhengHei"/>
              </a:defRPr>
            </a:pPr>
            <a:r>
              <a:t>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86000" y="5029200"/>
            <a:ext cx="1097280" cy="640080"/>
          </a:xfrm>
          <a:prstGeom prst="roundRect">
            <a:avLst/>
          </a:prstGeom>
          <a:solidFill>
            <a:srgbClr val="2A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86000" y="5047488"/>
            <a:ext cx="10972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Microsoft JhengHei"/>
              </a:defRPr>
            </a:pPr>
            <a:r>
              <a:t>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0" y="5029200"/>
            <a:ext cx="1097280" cy="640080"/>
          </a:xfrm>
          <a:prstGeom prst="roundRect">
            <a:avLst/>
          </a:prstGeom>
          <a:solidFill>
            <a:srgbClr val="2A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0" y="5047488"/>
            <a:ext cx="10972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Microsoft JhengHei"/>
              </a:defRPr>
            </a:pPr>
            <a:r>
              <a:t>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0" y="5029200"/>
            <a:ext cx="1097280" cy="640080"/>
          </a:xfrm>
          <a:prstGeom prst="roundRect">
            <a:avLst/>
          </a:prstGeom>
          <a:solidFill>
            <a:srgbClr val="2A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0" y="5047488"/>
            <a:ext cx="10972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Microsoft JhengHei"/>
              </a:defRPr>
            </a:pPr>
            <a:r>
              <a:t>📊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5029200"/>
            <a:ext cx="1097280" cy="640080"/>
          </a:xfrm>
          <a:prstGeom prst="roundRect">
            <a:avLst/>
          </a:prstGeom>
          <a:solidFill>
            <a:srgbClr val="2A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5047488"/>
            <a:ext cx="10972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Microsoft JhengHei"/>
              </a:defRPr>
            </a:pPr>
            <a:r>
              <a:t>📡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0" y="5029200"/>
            <a:ext cx="1097280" cy="640080"/>
          </a:xfrm>
          <a:prstGeom prst="roundRect">
            <a:avLst/>
          </a:prstGeom>
          <a:solidFill>
            <a:srgbClr val="2A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0" y="5047488"/>
            <a:ext cx="10972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Microsoft JhengHei"/>
              </a:defRPr>
            </a:pPr>
            <a:r>
              <a:t>🧠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0" y="5029200"/>
            <a:ext cx="1097280" cy="640080"/>
          </a:xfrm>
          <a:prstGeom prst="roundRect">
            <a:avLst/>
          </a:prstGeom>
          <a:solidFill>
            <a:srgbClr val="2A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0" y="5047488"/>
            <a:ext cx="10972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Microsoft JhengHei"/>
              </a:defRPr>
            </a:pPr>
            <a:r>
              <a:t>💾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515600" y="5029200"/>
            <a:ext cx="1097280" cy="640080"/>
          </a:xfrm>
          <a:prstGeom prst="roundRect">
            <a:avLst/>
          </a:prstGeom>
          <a:solidFill>
            <a:srgbClr val="2A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0" y="5047488"/>
            <a:ext cx="10972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Microsoft JhengHei"/>
              </a:defRPr>
            </a:pPr>
            <a:r>
              <a:t>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943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AA"/>
                </a:solidFill>
                <a:latin typeface="Microsoft JhengHei"/>
              </a:defRPr>
            </a:pPr>
            <a:r>
              <a:t>聯絡我們：skills@aiagent-ecosystem.com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