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FDBFE"/>
                </a:solidFill>
                <a:latin typeface="Microsoft JhengHei"/>
              </a:defRPr>
            </a:pPr>
            <a:r>
              <a:t>AI AGENT 快速開發方案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Microsoft JhengHei"/>
              </a:defRPr>
            </a:pPr>
            <a:r>
              <a:t>AI Agent</a:t>
            </a:r>
            <a:br/>
            <a:r>
              <a:t>快速打造小型</a:t>
            </a:r>
            <a:br/>
            <a:r>
              <a:t>Web 會計系統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840480"/>
            <a:ext cx="1828800" cy="54864"/>
          </a:xfrm>
          <a:prstGeom prst="rect">
            <a:avLst/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FDBFE"/>
                </a:solidFill>
                <a:latin typeface="Microsoft JhengHei"/>
              </a:defRPr>
            </a:pPr>
            <a:r>
              <a:t>從需求到部署 · 一週搞定一套會計系統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46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Microsoft JhengHei"/>
              </a:defRPr>
            </a:pPr>
            <a:r>
              <a:t>2026 年度技術方案提案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icrosoft JhengHei"/>
              </a:defRPr>
            </a:pPr>
            <a:r>
              <a:t>Powered by AI Agent · Modern Web Stack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0" y="1371600"/>
            <a:ext cx="3657600" cy="3657600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256032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563EB"/>
                </a:solidFill>
                <a:latin typeface="Microsoft JhengHei"/>
              </a:defRPr>
            </a:pPr>
            <a:r>
              <a:t>⚡</a:t>
            </a:r>
            <a:br/>
            <a:r>
              <a:t>一週</a:t>
            </a:r>
            <a:br/>
            <a:r>
              <a:t>交付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4572000"/>
            <a:ext cx="365760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79" y="459028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Microsoft JhengHei"/>
              </a:defRPr>
            </a:pPr>
            <a:r>
              <a:t>  ▶ React + Tailwind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4983480"/>
            <a:ext cx="365760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79" y="500176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Microsoft JhengHei"/>
              </a:defRPr>
            </a:pPr>
            <a:r>
              <a:t>  ▶ FastAPI / Next.js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5394960"/>
            <a:ext cx="365760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541324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Microsoft JhengHei"/>
              </a:defRPr>
            </a:pPr>
            <a:r>
              <a:t>  ▶ PostgreSQL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5806440"/>
            <a:ext cx="365760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79" y="582472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Microsoft JhengHei"/>
              </a:defRPr>
            </a:pPr>
            <a:r>
              <a:t>  ▶ AI Agent 協作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JhengHei"/>
              </a:defRPr>
            </a:pPr>
            <a:r>
              <a:t>議 程 內 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FDBFE"/>
                </a:solidFill>
                <a:latin typeface="Microsoft JhengHei"/>
              </a:defRPr>
            </a:pPr>
            <a:r>
              <a:t>AGENDA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53035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423160"/>
            <a:ext cx="640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563EB"/>
                </a:solidFill>
                <a:latin typeface="Microsoft JhengHe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4231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Microsoft JhengHei"/>
              </a:defRPr>
            </a:pPr>
            <a:r>
              <a:t>傳統會計開發痛點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8346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Microsoft JhengHei"/>
              </a:defRPr>
            </a:pPr>
            <a:r>
              <a:t>為什麼需要 AI 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377440"/>
            <a:ext cx="53035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2423160"/>
            <a:ext cx="640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563EB"/>
                </a:solidFill>
                <a:latin typeface="Microsoft JhengHe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4231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Microsoft JhengHei"/>
              </a:defRPr>
            </a:pPr>
            <a:r>
              <a:t>AI Agent 的開發角色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8346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Microsoft JhengHei"/>
              </a:defRPr>
            </a:pPr>
            <a:r>
              <a:t>貫穿開發全流程的 AI 協作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474720"/>
            <a:ext cx="53035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520440"/>
            <a:ext cx="640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563EB"/>
                </a:solidFill>
                <a:latin typeface="Microsoft JhengHe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5204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Microsoft JhengHei"/>
              </a:defRPr>
            </a:pPr>
            <a:r>
              <a:t>系統功能規劃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931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Microsoft JhengHei"/>
              </a:defRPr>
            </a:pPr>
            <a:r>
              <a:t>小型會計系統必備模組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474720"/>
            <a:ext cx="53035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3520440"/>
            <a:ext cx="640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563EB"/>
                </a:solidFill>
                <a:latin typeface="Microsoft JhengHei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5204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Microsoft JhengHei"/>
              </a:defRPr>
            </a:pPr>
            <a:r>
              <a:t>系統架構設計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931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Microsoft JhengHei"/>
              </a:defRPr>
            </a:pPr>
            <a:r>
              <a:t>Frontend + Backend + DB + AI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572000"/>
            <a:ext cx="53035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617720"/>
            <a:ext cx="640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563EB"/>
                </a:solidFill>
                <a:latin typeface="Microsoft JhengHei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6177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Microsoft JhengHei"/>
              </a:defRPr>
            </a:pPr>
            <a:r>
              <a:t>AI Agent 開發流程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5029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Microsoft JhengHei"/>
              </a:defRPr>
            </a:pPr>
            <a:r>
              <a:t>Prompt → 生成 → Review → 迭代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572000"/>
            <a:ext cx="53035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4617720"/>
            <a:ext cx="640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563EB"/>
                </a:solidFill>
                <a:latin typeface="Microsoft JhengHei"/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46177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Microsoft JhengHei"/>
              </a:defRPr>
            </a:pPr>
            <a:r>
              <a:t>核心程式碼展示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5029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Microsoft JhengHei"/>
              </a:defRPr>
            </a:pPr>
            <a:r>
              <a:t>關鍵實作範例與 Prompt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669279"/>
            <a:ext cx="53035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5714999"/>
            <a:ext cx="640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563EB"/>
                </a:solidFill>
                <a:latin typeface="Microsoft JhengHei"/>
              </a:defRPr>
            </a:pPr>
            <a: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571499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Microsoft JhengHei"/>
              </a:defRPr>
            </a:pPr>
            <a:r>
              <a:t>部署方案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20" y="612647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Microsoft JhengHei"/>
              </a:defRPr>
            </a:pPr>
            <a:r>
              <a:t>Docker / Vercel + Supabase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5669279"/>
            <a:ext cx="53035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5714999"/>
            <a:ext cx="640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563EB"/>
                </a:solidFill>
                <a:latin typeface="Microsoft JhengHei"/>
              </a:defRPr>
            </a:pPr>
            <a: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571499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Microsoft JhengHei"/>
              </a:defRPr>
            </a:pPr>
            <a:r>
              <a:t>導入效益與結語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612647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Microsoft JhengHei"/>
              </a:defRPr>
            </a:pPr>
            <a:r>
              <a:t>量化效益與下一步行動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JhengHei"/>
              </a:defRPr>
            </a:pPr>
            <a:r>
              <a:t>傳統會計開發痛點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FDBFE"/>
                </a:solidFill>
                <a:latin typeface="Microsoft JhengHei"/>
              </a:defRPr>
            </a:pPr>
            <a:r>
              <a:t>小型會計系統為何需要 AI Agent？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77440"/>
            <a:ext cx="26974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377440"/>
            <a:ext cx="269748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563EB"/>
                </a:solidFill>
                <a:latin typeface="Microsoft JhengHei"/>
              </a:defRPr>
            </a:pPr>
            <a:r>
              <a:t>開發週期長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00400"/>
            <a:ext cx="2148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4155"/>
                </a:solidFill>
                <a:latin typeface="Microsoft JhengHei"/>
              </a:defRPr>
            </a:pPr>
            <a:r>
              <a:t>從需求釐清到上線</a:t>
            </a:r>
            <a:br/>
            <a:r>
              <a:t>平均需要 3~6 個月</a:t>
            </a:r>
            <a:br/>
            <a:r>
              <a:t>規格確認反覆耗時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377440"/>
            <a:ext cx="26974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2377440"/>
            <a:ext cx="269748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265176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A580C"/>
                </a:solidFill>
                <a:latin typeface="Microsoft JhengHei"/>
              </a:defRPr>
            </a:pPr>
            <a:r>
              <a:t>規格變動頻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3200400"/>
            <a:ext cx="2148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4155"/>
                </a:solidFill>
                <a:latin typeface="Microsoft JhengHei"/>
              </a:defRPr>
            </a:pPr>
            <a:r>
              <a:t>會計準則與流程經常調整</a:t>
            </a:r>
            <a:br/>
            <a:r>
              <a:t>需求變更導致大量重工</a:t>
            </a:r>
            <a:br/>
            <a:r>
              <a:t>模組耦合難以快速修改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2377440"/>
            <a:ext cx="26974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59" y="2377440"/>
            <a:ext cx="269748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79" y="265176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C3AED"/>
                </a:solidFill>
                <a:latin typeface="Microsoft JhengHei"/>
              </a:defRPr>
            </a:pPr>
            <a:r>
              <a:t>測試耗時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79" y="3200400"/>
            <a:ext cx="2148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4155"/>
                </a:solidFill>
                <a:latin typeface="Microsoft JhengHei"/>
              </a:defRPr>
            </a:pPr>
            <a:r>
              <a:t>手動測試佔開發時間 40%</a:t>
            </a:r>
            <a:br/>
            <a:r>
              <a:t>邊界案例難以窮舉</a:t>
            </a:r>
            <a:br/>
            <a:r>
              <a:t>財務數值錯誤風險高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19" y="2377440"/>
            <a:ext cx="26974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89719" y="2377440"/>
            <a:ext cx="269748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64039" y="265176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6A34A"/>
                </a:solidFill>
                <a:latin typeface="Microsoft JhengHei"/>
              </a:defRPr>
            </a:pPr>
            <a:r>
              <a:t>維護成本高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39" y="3200400"/>
            <a:ext cx="2148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4155"/>
                </a:solidFill>
                <a:latin typeface="Microsoft JhengHei"/>
              </a:defRPr>
            </a:pPr>
            <a:r>
              <a:t>Bug fix + 功能迭代不間斷</a:t>
            </a:r>
            <a:br/>
            <a:r>
              <a:t>缺乏文件導致交接困難</a:t>
            </a:r>
            <a:br/>
            <a:r>
              <a:t>技術債隨時間累積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212080"/>
            <a:ext cx="110642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3949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4155"/>
                </a:solidFill>
                <a:latin typeface="Microsoft JhengHei"/>
              </a:defRPr>
            </a:pPr>
            <a:r>
              <a:t>💡 核心問題：傳統開發模式無法快速因應小型企業的預算限制與迭代需求，AI Agent 能將開發週期從「月」縮短到「天」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JhengHei"/>
              </a:defRPr>
            </a:pPr>
            <a:r>
              <a:t>AI Agent 的開發角色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FDBFE"/>
                </a:solidFill>
                <a:latin typeface="Microsoft JhengHei"/>
              </a:defRPr>
            </a:pPr>
            <a:r>
              <a:t>貫穿開發全流程的 AI 協作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77440"/>
            <a:ext cx="26974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377440"/>
            <a:ext cx="269748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563EB"/>
                </a:solidFill>
                <a:latin typeface="Microsoft JhengHei"/>
              </a:defRPr>
            </a:pPr>
            <a:r>
              <a:t>📝 程式碼生成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91840"/>
            <a:ext cx="2148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4155"/>
                </a:solidFill>
                <a:latin typeface="Microsoft JhengHei"/>
              </a:defRPr>
            </a:pPr>
            <a:r>
              <a:t>根據需求描述直接生成 CRUD</a:t>
            </a:r>
            <a:br/>
            <a:r>
              <a:t>從 UI Component 到 API Route</a:t>
            </a:r>
            <a:br/>
            <a:r>
              <a:t>資料庫 Schema 自動設計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377440"/>
            <a:ext cx="26974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2377440"/>
            <a:ext cx="269748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265176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Microsoft JhengHei"/>
              </a:defRPr>
            </a:pPr>
            <a:r>
              <a:t>🔍 除錯與優化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3291840"/>
            <a:ext cx="2148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4155"/>
                </a:solidFill>
                <a:latin typeface="Microsoft JhengHei"/>
              </a:defRPr>
            </a:pPr>
            <a:r>
              <a:t>錯誤訊息自動分析與修復</a:t>
            </a:r>
            <a:br/>
            <a:r>
              <a:t>效能瓶頸檢測與建議</a:t>
            </a:r>
            <a:br/>
            <a:r>
              <a:t>重構與最佳實踐導入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2377440"/>
            <a:ext cx="26974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59" y="2377440"/>
            <a:ext cx="269748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79" y="265176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6A34A"/>
                </a:solidFill>
                <a:latin typeface="Microsoft JhengHei"/>
              </a:defRPr>
            </a:pPr>
            <a:r>
              <a:t>📊 測試自動化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79" y="3291840"/>
            <a:ext cx="2148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4155"/>
                </a:solidFill>
                <a:latin typeface="Microsoft JhengHei"/>
              </a:defRPr>
            </a:pPr>
            <a:r>
              <a:t>單元測試、整合測試自動生成</a:t>
            </a:r>
            <a:br/>
            <a:r>
              <a:t>邊界案例自動補全</a:t>
            </a:r>
            <a:br/>
            <a:r>
              <a:t>測試覆蓋率可達 90%+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19" y="2377440"/>
            <a:ext cx="26974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89719" y="2377440"/>
            <a:ext cx="269748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64039" y="265176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A580C"/>
                </a:solidFill>
                <a:latin typeface="Microsoft JhengHei"/>
              </a:defRPr>
            </a:pPr>
            <a:r>
              <a:t>📄 文件生成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39" y="3291840"/>
            <a:ext cx="2148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4155"/>
                </a:solidFill>
                <a:latin typeface="Microsoft JhengHei"/>
              </a:defRPr>
            </a:pPr>
            <a:r>
              <a:t>API 文件自動產生</a:t>
            </a:r>
            <a:br/>
            <a:r>
              <a:t>資料庫 ER 圖自動繪製</a:t>
            </a:r>
            <a:br/>
            <a:r>
              <a:t>部署與使用說明自動撰寫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212080"/>
            <a:ext cx="110642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3949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4155"/>
                </a:solidFill>
                <a:latin typeface="Microsoft JhengHei"/>
              </a:defRPr>
            </a:pPr>
            <a:r>
              <a:t>🤖 AI Agent 不是取代開發者，而是讓開發者專注在高階設計與業務邏輯，重複性勞動交給 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JhengHei"/>
              </a:defRPr>
            </a:pPr>
            <a:r>
              <a:t>系統功能規劃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FDBFE"/>
                </a:solidFill>
                <a:latin typeface="Microsoft JhengHei"/>
              </a:defRPr>
            </a:pPr>
            <a:r>
              <a:t>小型會計系統必備五大模組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377440"/>
            <a:ext cx="214884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2377440"/>
            <a:ext cx="21488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Microsoft JhengHei"/>
              </a:defRPr>
            </a:pPr>
            <a:r>
              <a:t>📋 憑證管理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1783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Microsoft JhengHei"/>
              </a:defRPr>
            </a:pPr>
            <a:r>
              <a:t>• 傳票新增 / 編輯 / 查詢</a:t>
            </a:r>
            <a:br/>
            <a:r>
              <a:t>• 複式記帳自動分錄</a:t>
            </a:r>
            <a:br/>
            <a:r>
              <a:t>• 支援多幣別</a:t>
            </a:r>
            <a:br/>
            <a:r>
              <a:t>• 附件上傳與管理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79" y="2377440"/>
            <a:ext cx="214884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97479" y="2377440"/>
            <a:ext cx="214884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59" y="265176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  <a:latin typeface="Microsoft JhengHei"/>
              </a:defRPr>
            </a:pPr>
            <a:r>
              <a:t>📊 總帳管理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59" y="3200400"/>
            <a:ext cx="1783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Microsoft JhengHei"/>
              </a:defRPr>
            </a:pPr>
            <a:r>
              <a:t>• 會計科目維護</a:t>
            </a:r>
            <a:br/>
            <a:r>
              <a:t>• 科目餘額表</a:t>
            </a:r>
            <a:br/>
            <a:r>
              <a:t>• 明細分類帳</a:t>
            </a:r>
            <a:br/>
            <a:r>
              <a:t>• 試算表自動產生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2377440"/>
            <a:ext cx="214884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0" y="2377440"/>
            <a:ext cx="214884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0" y="265176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A34A"/>
                </a:solidFill>
                <a:latin typeface="Microsoft JhengHei"/>
              </a:defRPr>
            </a:pPr>
            <a:r>
              <a:t>💳 應收/應付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200400"/>
            <a:ext cx="1783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Microsoft JhengHei"/>
              </a:defRPr>
            </a:pPr>
            <a:r>
              <a:t>• 客戶/供應商管理</a:t>
            </a:r>
            <a:br/>
            <a:r>
              <a:t>• 帳齡分析</a:t>
            </a:r>
            <a:br/>
            <a:r>
              <a:t>• 收款/付款預警</a:t>
            </a:r>
            <a:br/>
            <a:r>
              <a:t>• 沖帳作業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19" y="2377440"/>
            <a:ext cx="214884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60919" y="2377440"/>
            <a:ext cx="214884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43799" y="265176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A580C"/>
                </a:solidFill>
                <a:latin typeface="Microsoft JhengHei"/>
              </a:defRPr>
            </a:pPr>
            <a:r>
              <a:t>📈 財務報表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799" y="3200400"/>
            <a:ext cx="1783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Microsoft JhengHei"/>
              </a:defRPr>
            </a:pPr>
            <a:r>
              <a:t>• 損益表</a:t>
            </a:r>
            <a:br/>
            <a:r>
              <a:t>• 資產負債表</a:t>
            </a:r>
            <a:br/>
            <a:r>
              <a:t>• 現金流量表</a:t>
            </a:r>
            <a:br/>
            <a:r>
              <a:t>• 匯出 Excel / PDF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92640" y="2377440"/>
            <a:ext cx="214884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92640" y="2377440"/>
            <a:ext cx="214884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0" y="265176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488"/>
                </a:solidFill>
                <a:latin typeface="Microsoft JhengHei"/>
              </a:defRPr>
            </a:pPr>
            <a:r>
              <a:t>👤 系統管理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3200400"/>
            <a:ext cx="1783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Microsoft JhengHei"/>
              </a:defRPr>
            </a:pPr>
            <a:r>
              <a:t>• 使用者與權限管理</a:t>
            </a:r>
            <a:br/>
            <a:r>
              <a:t>• 操作審計日誌</a:t>
            </a:r>
            <a:br/>
            <a:r>
              <a:t>• 系統參數設定</a:t>
            </a:r>
            <a:br/>
            <a:r>
              <a:t>• 資料備份與還原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5760720"/>
            <a:ext cx="11430000" cy="7315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以上功能可用 AI Agent 在 3~5 天內完成 CRUD 開發，透過迭代逐步完善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JhengHei"/>
              </a:defRPr>
            </a:pPr>
            <a:r>
              <a:t>系統架構設計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FDBFE"/>
                </a:solidFill>
                <a:latin typeface="Microsoft JhengHei"/>
              </a:defRPr>
            </a:pPr>
            <a:r>
              <a:t>Frontend + Backend + DB + AI 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10698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3317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563EB"/>
                </a:solidFill>
                <a:latin typeface="Microsoft JhengHei"/>
              </a:defRPr>
            </a:pPr>
            <a:r>
              <a:t>🌐 前端層 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432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Microsoft JhengHei"/>
              </a:defRPr>
            </a:pPr>
            <a:r>
              <a:t>React + TypeScript + Tailwind CSS</a:t>
            </a:r>
            <a:br/>
            <a:r>
              <a:t>React Router 路由管理 · Shadcn/ui 元件庫</a:t>
            </a:r>
            <a:br/>
            <a:r>
              <a:t>Vite 建置工具 · Axios API 串接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83280"/>
            <a:ext cx="10698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383280"/>
            <a:ext cx="73152" cy="960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4290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Microsoft JhengHei"/>
              </a:defRPr>
            </a:pPr>
            <a:r>
              <a:t>📡 API 層 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8404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Microsoft JhengHei"/>
              </a:defRPr>
            </a:pPr>
            <a:r>
              <a:t>Python FastAPI / Node.js Next.js</a:t>
            </a:r>
            <a:br/>
            <a:r>
              <a:t>RESTful API 設計 · JWT 認證</a:t>
            </a:r>
            <a:br/>
            <a:r>
              <a:t>SQLAlchemy ORM · Pydantic 驗證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80560"/>
            <a:ext cx="10698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480560"/>
            <a:ext cx="73152" cy="9601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5262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6A34A"/>
                </a:solidFill>
                <a:latin typeface="Microsoft JhengHei"/>
              </a:defRPr>
            </a:pPr>
            <a:r>
              <a:t>💾 資料層 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9377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Microsoft JhengHei"/>
              </a:defRPr>
            </a:pPr>
            <a:r>
              <a:t>PostgreSQL / SQLite（開發用）</a:t>
            </a:r>
            <a:br/>
            <a:r>
              <a:t>Alembic 資料庫遷移</a:t>
            </a:r>
            <a:br/>
            <a:r>
              <a:t>索引優化 · 交易事務管理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577840"/>
            <a:ext cx="10698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5577840"/>
            <a:ext cx="73152" cy="9601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6235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A580C"/>
                </a:solidFill>
                <a:latin typeface="Microsoft JhengHei"/>
              </a:defRPr>
            </a:pPr>
            <a:r>
              <a:t>🤖 AI Agent 協作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60350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Microsoft JhengHei"/>
              </a:defRPr>
            </a:pPr>
            <a:r>
              <a:t>Cursor IDE · Claude / GPT-4</a:t>
            </a:r>
            <a:br/>
            <a:r>
              <a:t>Prompt Engineering 驅動開發</a:t>
            </a:r>
            <a:br/>
            <a:r>
              <a:t>版本控制 + AI Review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6035040"/>
            <a:ext cx="10698480" cy="3200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6062472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Microsoft JhengHei"/>
              </a:defRPr>
            </a:pPr>
            <a:r>
              <a:t>🔗 資料流：使用者操作 → React UI → API 請求 → FastAPI → ORM → PostgreSQL → 回應渲染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JhengHei"/>
              </a:defRPr>
            </a:pPr>
            <a:r>
              <a:t>AI Agent 開發流程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FDBFE"/>
                </a:solidFill>
                <a:latin typeface="Microsoft JhengHei"/>
              </a:defRPr>
            </a:pPr>
            <a:r>
              <a:t>Prompt → 生成 → Review → 迭代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77440"/>
            <a:ext cx="26974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377440"/>
            <a:ext cx="269748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JhengHei"/>
              </a:defRPr>
            </a:pPr>
            <a: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Microsoft JhengHei"/>
              </a:defRPr>
            </a:pPr>
            <a:r>
              <a:t>需求描述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91840"/>
            <a:ext cx="2331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4155"/>
                </a:solidFill>
                <a:latin typeface="Microsoft JhengHei"/>
              </a:defRPr>
            </a:pPr>
            <a:r>
              <a:t>以自然語言描述功能需求</a:t>
            </a:r>
            <a:br/>
            <a:r>
              <a:t>明確輸入/輸出/商業邏輯</a:t>
            </a:r>
            <a:br/>
            <a:r>
              <a:t>附上參考 UI 或資料範例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2377440"/>
            <a:ext cx="26974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2377440"/>
            <a:ext cx="269748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24688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Microsoft JhengHei"/>
              </a:defRPr>
            </a:pPr>
            <a: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74320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Microsoft JhengHei"/>
              </a:defRPr>
            </a:pPr>
            <a:r>
              <a:t>AI 生成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291840"/>
            <a:ext cx="2331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4155"/>
                </a:solidFill>
                <a:latin typeface="Microsoft JhengHei"/>
              </a:defRPr>
            </a:pPr>
            <a:r>
              <a:t>Agent 產出完整 CRUD 程式碼</a:t>
            </a:r>
            <a:br/>
            <a:r>
              <a:t>包含 Model + API + UI</a:t>
            </a:r>
            <a:br/>
            <a:r>
              <a:t>資料庫 Migration 腳本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2377440"/>
            <a:ext cx="26974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59" y="2377440"/>
            <a:ext cx="269748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39" y="24688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A580C"/>
                </a:solidFill>
                <a:latin typeface="Microsoft JhengHei"/>
              </a:defRPr>
            </a:pPr>
            <a: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39" y="274320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Microsoft JhengHei"/>
              </a:defRPr>
            </a:pPr>
            <a:r>
              <a:t>人工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39" y="3291840"/>
            <a:ext cx="2331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4155"/>
                </a:solidFill>
                <a:latin typeface="Microsoft JhengHei"/>
              </a:defRPr>
            </a:pPr>
            <a:r>
              <a:t>檢查業務邏輯正確性</a:t>
            </a:r>
            <a:br/>
            <a:r>
              <a:t>調整 UI/UX 細節</a:t>
            </a:r>
            <a:br/>
            <a:r>
              <a:t>安全性與權限驗證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19" y="2377440"/>
            <a:ext cx="26974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89719" y="2377440"/>
            <a:ext cx="269748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599" y="24688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A34A"/>
                </a:solidFill>
                <a:latin typeface="Microsoft JhengHei"/>
              </a:defRPr>
            </a:pPr>
            <a:r>
              <a:t>Step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599" y="274320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Microsoft JhengHei"/>
              </a:defRPr>
            </a:pPr>
            <a:r>
              <a:t>迭代優化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599" y="3291840"/>
            <a:ext cx="2331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4155"/>
                </a:solidFill>
                <a:latin typeface="Microsoft JhengHei"/>
              </a:defRPr>
            </a:pPr>
            <a:r>
              <a:t>提出修改需求給 Agent</a:t>
            </a:r>
            <a:br/>
            <a:r>
              <a:t>自動更新相關聯程式碼</a:t>
            </a:r>
            <a:br/>
            <a:r>
              <a:t>回歸測試確認無影響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212080"/>
            <a:ext cx="5029200" cy="12801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303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2CA9D"/>
                </a:solidFill>
                <a:latin typeface="Consolas"/>
              </a:defRPr>
            </a:pPr>
            <a:r>
              <a:t>  範例 Prompt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62356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onsolas"/>
              </a:defRPr>
            </a:pPr>
            <a:r>
              <a:t>  "請幫我建立一個傳票輸入頁面，包含：</a:t>
            </a:r>
            <a:br/>
            <a:r>
              <a:t>  日期選擇、科目下拉選單、借方/貸方金額、</a:t>
            </a:r>
            <a:br/>
            <a:r>
              <a:t>  摘要文字欄位。使用 React + TypeScript，</a:t>
            </a:r>
            <a:br/>
            <a:r>
              <a:t>  表單驗證使用 react-hook-form。"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52160" y="5212080"/>
            <a:ext cx="57607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0" y="534924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Microsoft JhengHei"/>
              </a:defRPr>
            </a:pPr>
            <a:r>
              <a:t>  🤖 AI Agent 回應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566928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Microsoft JhengHei"/>
              </a:defRPr>
            </a:pPr>
            <a:r>
              <a:t>  自動產出完整的 Component 程式碼</a:t>
            </a:r>
            <a:br/>
            <a:r>
              <a:t>  含表單驗證、API 串接、TypeScript 型別</a:t>
            </a:r>
            <a:br/>
            <a:r>
              <a:t>  以及對應的 Backend API Route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JhengHei"/>
              </a:defRPr>
            </a:pPr>
            <a:r>
              <a:t>核心程式碼展示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FDBFE"/>
                </a:solidFill>
                <a:latin typeface="Microsoft JhengHei"/>
              </a:defRPr>
            </a:pPr>
            <a:r>
              <a:t>關鍵實作範例與 AI 生成對比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Microsoft JhengHei"/>
              </a:defRPr>
            </a:pPr>
            <a:r>
              <a:t>💾 會計分錄 Entity 定義（Python / SQLAlchemy）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43200"/>
            <a:ext cx="53035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4937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onsolas"/>
              </a:defRPr>
            </a:pPr>
            <a:r>
              <a:t>  class JournalEntry(Base):</a:t>
            </a:r>
            <a:br/>
            <a:r>
              <a:t>      __tablename__ = "journal_entries"</a:t>
            </a:r>
            <a:br/>
            <a:r>
              <a:t>      id = Column(UUID, primary_key=True)</a:t>
            </a:r>
            <a:br/>
            <a:r>
              <a:t>      date = Column(Date, nullable=False)</a:t>
            </a:r>
            <a:br/>
            <a:r>
              <a:t>      description = Column(String(500))</a:t>
            </a:r>
            <a:br/>
            <a:r>
              <a:t>      status = Column(Enum(EntryStatus))</a:t>
            </a:r>
            <a:br/>
            <a:r>
              <a:t>  </a:t>
            </a:r>
            <a:br/>
            <a:r>
              <a:t>  class JournalLine(Base):</a:t>
            </a:r>
            <a:br/>
            <a:r>
              <a:t>      __tablename__ = "journal_lines"</a:t>
            </a:r>
            <a:br/>
            <a:r>
              <a:t>      id = Column(UUID, primary_key=True)</a:t>
            </a:r>
            <a:br/>
            <a:r>
              <a:t>      entry_id = Column(ForeignKey("journal_entries.id"))</a:t>
            </a:r>
            <a:br/>
            <a:r>
              <a:t>      account_id = Column(ForeignKey("accounts.id"))</a:t>
            </a:r>
            <a:br/>
            <a:r>
              <a:t>      debit = Column(Numeric(14,2), default=0)</a:t>
            </a:r>
            <a:br/>
            <a:r>
              <a:t>      credit = Column(Numeric(14,2), default=0)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2860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Microsoft JhengHei"/>
              </a:defRPr>
            </a:pPr>
            <a:r>
              <a:t>💰 複式記帳驗證邏輯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743200"/>
            <a:ext cx="53035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834640"/>
            <a:ext cx="4937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onsolas"/>
              </a:defRPr>
            </a:pPr>
            <a:r>
              <a:t>  def validate_double_entry(lines: list[Line]) -&gt; bool:</a:t>
            </a:r>
            <a:br/>
            <a:r>
              <a:t>      total_debit = sum(l.debit for l in lines)</a:t>
            </a:r>
            <a:br/>
            <a:r>
              <a:t>      total_credit = sum(l.credit for l in lines)</a:t>
            </a:r>
            <a:br/>
            <a:r>
              <a:t>      if total_debit != total_credit:</a:t>
            </a:r>
            <a:br/>
            <a:r>
              <a:t>          raise ValueError(</a:t>
            </a:r>
            <a:br/>
            <a:r>
              <a:t>              f"借貸不平衡: 借方{total_debit} "</a:t>
            </a:r>
            <a:br/>
            <a:r>
              <a:t>              f"≠ 貸方{total_credit}"</a:t>
            </a:r>
            <a:br/>
            <a:r>
              <a:t>          )</a:t>
            </a:r>
            <a:br/>
            <a:r>
              <a:t>      return True</a:t>
            </a:r>
            <a:br/>
            <a:r>
              <a:t>  </a:t>
            </a:r>
            <a:br/>
            <a:r>
              <a:t>  # AI Agent 自動生成的測試案例</a:t>
            </a:r>
            <a:br/>
            <a:r>
              <a:t>  def test_validate_double_entry():</a:t>
            </a:r>
            <a:br/>
            <a:r>
              <a:t>      lines = [</a:t>
            </a:r>
            <a:br/>
            <a:r>
              <a:t>          Line(debit=1000, credit=0),</a:t>
            </a:r>
            <a:br/>
            <a:r>
              <a:t>          Line(debit=0, credit=1000),</a:t>
            </a:r>
            <a:br/>
            <a:r>
              <a:t>      ]</a:t>
            </a:r>
            <a:br/>
            <a:r>
              <a:t>      assert validate_double_entry(lines)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212080"/>
            <a:ext cx="110642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949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4155"/>
                </a:solidFill>
                <a:latin typeface="Microsoft JhengHei"/>
              </a:defRPr>
            </a:pPr>
            <a:r>
              <a:t>🤖 以上程式碼 80% 由 AI Agent 生成，開發者只需描述業務邏輯與資料結構，Agent 即可產出完整 Model、API、UI 及測試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JhengHei"/>
              </a:defRPr>
            </a:pPr>
            <a:r>
              <a:t>資料安全與合規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FDBFE"/>
                </a:solidFill>
                <a:latin typeface="Microsoft JhengHei"/>
              </a:defRPr>
            </a:pPr>
            <a:r>
              <a:t>會計系統的資安考量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77440"/>
            <a:ext cx="26974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377440"/>
            <a:ext cx="269748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563EB"/>
                </a:solidFill>
                <a:latin typeface="Microsoft JhengHei"/>
              </a:defRPr>
            </a:pPr>
            <a:r>
              <a:t>🔒 資料加密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00400"/>
            <a:ext cx="2148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Microsoft JhengHei"/>
              </a:defRPr>
            </a:pPr>
            <a:r>
              <a:t>傳輸加密 TLS 1.3</a:t>
            </a:r>
            <a:br/>
            <a:r>
              <a:t>靜態資料 AES-256 加密</a:t>
            </a:r>
            <a:br/>
            <a:r>
              <a:t>敏感欄位脫敏處理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377440"/>
            <a:ext cx="26974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2377440"/>
            <a:ext cx="269748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265176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Microsoft JhengHei"/>
              </a:defRPr>
            </a:pPr>
            <a:r>
              <a:t>🛡 存取控制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3200400"/>
            <a:ext cx="2148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Microsoft JhengHei"/>
              </a:defRPr>
            </a:pPr>
            <a:r>
              <a:t>RBAC 角色權限管理</a:t>
            </a:r>
            <a:br/>
            <a:r>
              <a:t>JWT Token 認證</a:t>
            </a:r>
            <a:br/>
            <a:r>
              <a:t>操作審計日誌完整記錄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2377440"/>
            <a:ext cx="26974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59" y="2377440"/>
            <a:ext cx="269748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79" y="265176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6A34A"/>
                </a:solidFill>
                <a:latin typeface="Microsoft JhengHei"/>
              </a:defRPr>
            </a:pPr>
            <a:r>
              <a:t>📋 資料備份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79" y="3200400"/>
            <a:ext cx="2148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Microsoft JhengHei"/>
              </a:defRPr>
            </a:pPr>
            <a:r>
              <a:t>自動每日備份</a:t>
            </a:r>
            <a:br/>
            <a:r>
              <a:t>增量備份機制</a:t>
            </a:r>
            <a:br/>
            <a:r>
              <a:t>異地備援選項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19" y="2377440"/>
            <a:ext cx="26974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89719" y="2377440"/>
            <a:ext cx="269748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64039" y="265176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A580C"/>
                </a:solidFill>
                <a:latin typeface="Microsoft JhengHei"/>
              </a:defRPr>
            </a:pPr>
            <a:r>
              <a:t>⚙ 法規合規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39" y="3200400"/>
            <a:ext cx="2148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Microsoft JhengHei"/>
              </a:defRPr>
            </a:pPr>
            <a:r>
              <a:t>符合一般會計原則</a:t>
            </a:r>
            <a:br/>
            <a:r>
              <a:t>審計軌跡保留</a:t>
            </a:r>
            <a:br/>
            <a:r>
              <a:t>支援匯出供會計師查核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029200"/>
            <a:ext cx="110642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2120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4155"/>
                </a:solidFill>
                <a:latin typeface="Microsoft JhengHei"/>
              </a:defRPr>
            </a:pPr>
            <a:r>
              <a:t>💡 小型會計系統採用雲端部署，安全等級等同一般 SaaS 產品。若需地端部署，可將整個系統打包成 Docker Image 佈署於客戶機房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JhengHei"/>
              </a:defRPr>
            </a:pPr>
            <a:r>
              <a:t>部署方案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FDBFE"/>
                </a:solidFill>
                <a:latin typeface="Microsoft JhengHei"/>
              </a:defRPr>
            </a:pPr>
            <a:r>
              <a:t>彈性部署選擇，滿足不同需求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377440"/>
            <a:ext cx="35661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377440"/>
            <a:ext cx="35661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563EB"/>
                </a:solidFill>
                <a:latin typeface="Microsoft JhengHei"/>
              </a:defRPr>
            </a:pPr>
            <a:r>
              <a:t>🚀 快速啟動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Microsoft JhengHei"/>
              </a:defRPr>
            </a:pPr>
            <a:r>
              <a:t>Vercel + Supabase</a:t>
            </a:r>
            <a:br/>
            <a:r>
              <a:t>• 前端部署 Vercel (Free Tier)</a:t>
            </a:r>
            <a:br/>
            <a:r>
              <a:t>• 資料庫用 Supabase (Free Tier)</a:t>
            </a:r>
            <a:br/>
            <a:r>
              <a:t>• 後端可選 Vercel Serverless</a:t>
            </a:r>
            <a:br/>
            <a:r>
              <a:t>• 適合 POC 與小型團隊</a:t>
            </a:r>
            <a:br/>
            <a:r>
              <a:t>• 零成本啟動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377440"/>
            <a:ext cx="35661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2377440"/>
            <a:ext cx="356616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5603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7C3AED"/>
                </a:solidFill>
                <a:latin typeface="Microsoft JhengHei"/>
              </a:defRPr>
            </a:pPr>
            <a:r>
              <a:t>📦 Docker 部署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10896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Microsoft JhengHei"/>
              </a:defRPr>
            </a:pPr>
            <a:r>
              <a:t>Docker Compose 一鍵啟動</a:t>
            </a:r>
            <a:br/>
            <a:r>
              <a:t>• Frontend + Backend + DB</a:t>
            </a:r>
            <a:br/>
            <a:r>
              <a:t>• Dockerfile + docker-compose.yml</a:t>
            </a:r>
            <a:br/>
            <a:r>
              <a:t>• 支援任何雲端主機</a:t>
            </a:r>
            <a:br/>
            <a:r>
              <a:t>• 適合正式環境</a:t>
            </a:r>
            <a:br/>
            <a:r>
              <a:t>• 可攜帶至地端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377440"/>
            <a:ext cx="35661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2377440"/>
            <a:ext cx="356616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25603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6A34A"/>
                </a:solidFill>
                <a:latin typeface="Microsoft JhengHei"/>
              </a:defRPr>
            </a:pPr>
            <a:r>
              <a:t>🏢 混合方案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10896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Microsoft JhengHei"/>
              </a:defRPr>
            </a:pPr>
            <a:r>
              <a:t>Vercel + 後端主機</a:t>
            </a:r>
            <a:br/>
            <a:r>
              <a:t>• 前端 Vercel 全球 CDN</a:t>
            </a:r>
            <a:br/>
            <a:r>
              <a:t>• 後端佈署於雲端 VM</a:t>
            </a:r>
            <a:br/>
            <a:r>
              <a:t>• 資料庫可選 RDS / Supabase</a:t>
            </a:r>
            <a:br/>
            <a:r>
              <a:t>• 兼顧效能與成本</a:t>
            </a:r>
            <a:br/>
            <a:r>
              <a:t>• 適合中型團隊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760720"/>
            <a:ext cx="11247120" cy="7315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8978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JhengHei"/>
              </a:defRPr>
            </a:pPr>
            <a:r>
              <a:t>🤖 部署 Dockerfile 與 CI/CD Pipeline 也可由 AI Agent 自動生成，只需描述部署環境即可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JhengHei"/>
              </a:defRPr>
            </a:pPr>
            <a:r>
              <a:t>導入效益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FDBFE"/>
                </a:solidFill>
                <a:latin typeface="Microsoft JhengHei"/>
              </a:defRPr>
            </a:pPr>
            <a:r>
              <a:t>AI Agent 開發 vs 傳統開發對比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77440"/>
            <a:ext cx="26974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377440"/>
            <a:ext cx="269748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563EB"/>
                </a:solidFill>
                <a:latin typeface="Microsoft JhengHei"/>
              </a:defRPr>
            </a:pPr>
            <a:r>
              <a:t>開發時間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Microsoft JhengHei"/>
              </a:defRPr>
            </a:pPr>
            <a:r>
              <a:t>傳統 3~6 個月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563EB"/>
                </a:solidFill>
                <a:latin typeface="Microsoft JhengHei"/>
              </a:defRPr>
            </a:pPr>
            <a:r>
              <a:t>  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59" y="4206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563EB"/>
                </a:solidFill>
                <a:latin typeface="Microsoft JhengHei"/>
              </a:defRPr>
            </a:pPr>
            <a:r>
              <a:t>AI Agent 1~2 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66344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Microsoft JhengHei"/>
              </a:defRPr>
            </a:pPr>
            <a:r>
              <a:t>縮短 80~90%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120640"/>
            <a:ext cx="1965960" cy="548640"/>
          </a:xfrm>
          <a:prstGeom prst="roundRect">
            <a:avLst/>
          </a:prstGeom>
          <a:solidFill>
            <a:srgbClr val="2563EB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21208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563EB"/>
                </a:solidFill>
                <a:latin typeface="Microsoft JhengHei"/>
              </a:defRPr>
            </a:pPr>
            <a:r>
              <a:t>縮短 80~90%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2377440"/>
            <a:ext cx="26974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29000" y="2377440"/>
            <a:ext cx="269748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1880" y="26517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7C3AED"/>
                </a:solidFill>
                <a:latin typeface="Microsoft JhengHei"/>
              </a:defRPr>
            </a:pPr>
            <a:r>
              <a:t>開發成本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329184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Microsoft JhengHei"/>
              </a:defRPr>
            </a:pPr>
            <a:r>
              <a:t>傳統 NT$80~150 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384048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C3AED"/>
                </a:solidFill>
                <a:latin typeface="Microsoft JhengHei"/>
              </a:defRPr>
            </a:pPr>
            <a:r>
              <a:t>  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19" y="4206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7C3AED"/>
                </a:solidFill>
                <a:latin typeface="Microsoft JhengHei"/>
              </a:defRPr>
            </a:pPr>
            <a:r>
              <a:t>AI Agent NT$15~30 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466344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Microsoft JhengHei"/>
              </a:defRPr>
            </a:pPr>
            <a:r>
              <a:t>節省 70~80%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94760" y="5120640"/>
            <a:ext cx="1965960" cy="548640"/>
          </a:xfrm>
          <a:prstGeom prst="roundRect">
            <a:avLst/>
          </a:prstGeom>
          <a:solidFill>
            <a:srgbClr val="7C3AED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94760" y="521208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C3AED"/>
                </a:solidFill>
                <a:latin typeface="Microsoft JhengHei"/>
              </a:defRPr>
            </a:pPr>
            <a:r>
              <a:t>節省 70~80%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59" y="2377440"/>
            <a:ext cx="26974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59" y="2377440"/>
            <a:ext cx="269748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39" y="26517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6A34A"/>
                </a:solidFill>
                <a:latin typeface="Microsoft JhengHei"/>
              </a:defRPr>
            </a:pPr>
            <a:r>
              <a:t>迭代速度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39" y="329184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Microsoft JhengHei"/>
              </a:defRPr>
            </a:pPr>
            <a:r>
              <a:t>傳統 2~4 週/次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39" y="384048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6A34A"/>
                </a:solidFill>
                <a:latin typeface="Microsoft JhengHei"/>
              </a:defRPr>
            </a:pPr>
            <a:r>
              <a:t>  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8" y="4206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6A34A"/>
                </a:solidFill>
                <a:latin typeface="Microsoft JhengHei"/>
              </a:defRPr>
            </a:pPr>
            <a:r>
              <a:t>AI Agent 2~3 天/次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39" y="466344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Microsoft JhengHei"/>
              </a:defRPr>
            </a:pPr>
            <a:r>
              <a:t>提升 5~10 倍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75119" y="5120640"/>
            <a:ext cx="1965960" cy="548640"/>
          </a:xfrm>
          <a:prstGeom prst="roundRect">
            <a:avLst/>
          </a:prstGeom>
          <a:solidFill>
            <a:srgbClr val="16A34A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19" y="521208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6A34A"/>
                </a:solidFill>
                <a:latin typeface="Microsoft JhengHei"/>
              </a:defRPr>
            </a:pPr>
            <a:r>
              <a:t>提升 5~10 倍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89719" y="2377440"/>
            <a:ext cx="26974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189719" y="2377440"/>
            <a:ext cx="269748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72599" y="26517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A580C"/>
                </a:solidFill>
                <a:latin typeface="Microsoft JhengHei"/>
              </a:defRPr>
            </a:pPr>
            <a:r>
              <a:t>測試覆蓋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2599" y="329184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Microsoft JhengHei"/>
              </a:defRPr>
            </a:pPr>
            <a:r>
              <a:t>傳統 50~60%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72599" y="384048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A580C"/>
                </a:solidFill>
                <a:latin typeface="Microsoft JhengHei"/>
              </a:defRPr>
            </a:pPr>
            <a:r>
              <a:t>  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07038" y="4206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A580C"/>
                </a:solidFill>
                <a:latin typeface="Microsoft JhengHei"/>
              </a:defRPr>
            </a:pPr>
            <a:r>
              <a:t>AI Agent 85~95%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72599" y="466344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Microsoft JhengHei"/>
              </a:defRPr>
            </a:pPr>
            <a:r>
              <a:t>提升 40%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555479" y="5120640"/>
            <a:ext cx="1965960" cy="548640"/>
          </a:xfrm>
          <a:prstGeom prst="roundRect">
            <a:avLst/>
          </a:prstGeom>
          <a:solidFill>
            <a:srgbClr val="EA580C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55479" y="521208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A580C"/>
                </a:solidFill>
                <a:latin typeface="Microsoft JhengHei"/>
              </a:defRPr>
            </a:pPr>
            <a:r>
              <a:t>提升 40%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FDBFE"/>
                </a:solidFill>
                <a:latin typeface="Microsoft JhengHei"/>
              </a:defRPr>
            </a:pPr>
            <a:r>
              <a:t>結語與下一步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JhengHei"/>
              </a:defRPr>
            </a:pPr>
            <a:r>
              <a:t>AI Agent 讓會計系統開發</a:t>
            </a:r>
            <a:br/>
            <a:r>
              <a:t>不再是大型團隊的專利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200400"/>
            <a:ext cx="1828800" cy="54864"/>
          </a:xfrm>
          <a:prstGeom prst="rect">
            <a:avLst/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566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FDBFE"/>
                </a:solidFill>
                <a:latin typeface="Microsoft JhengHei"/>
              </a:defRPr>
            </a:pPr>
            <a:r>
              <a:t>一個人 + AI Agent 一週即可交付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06240"/>
            <a:ext cx="5029200" cy="20116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icrosoft JhengHei"/>
              </a:defRPr>
            </a:pPr>
            <a:r>
              <a:t>💬 Step 1：需求訪談 — 了解目前會計作業流程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800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icrosoft JhengHei"/>
              </a:defRPr>
            </a:pPr>
            <a:r>
              <a:t>📋 Step 2：2 週 POC — 建立核心憑證 + 報表模組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212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icrosoft JhengHei"/>
              </a:defRPr>
            </a:pPr>
            <a:r>
              <a:t>🚀 Step 3：系統交付 — 完整功能 + 教育訓練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623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icrosoft JhengHei"/>
              </a:defRPr>
            </a:pPr>
            <a:r>
              <a:t>📈 Step 4：持續迭代 — 依使用反饋持續優化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309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Microsoft JhengHei"/>
              </a:defRPr>
            </a:pPr>
            <a:r>
              <a:t>聯絡我們：dev@aiagent-accounting.com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0" y="1371600"/>
            <a:ext cx="3200400" cy="3200400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22860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563EB"/>
                </a:solidFill>
                <a:latin typeface="Microsoft JhengHei"/>
              </a:defRPr>
            </a:pPr>
            <a:r>
              <a:t>馬上開始</a:t>
            </a:r>
            <a:br/>
            <a:r>
              <a:t>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4754880"/>
            <a:ext cx="36576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4800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Microsoft JhengHei"/>
              </a:defRPr>
            </a:pPr>
            <a:r>
              <a:t>📩 填寫需求表單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5212080"/>
            <a:ext cx="36576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79" y="52578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Microsoft JhengHei"/>
              </a:defRPr>
            </a:pPr>
            <a:r>
              <a:t>💬 預約線上 Demo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5669280"/>
            <a:ext cx="36576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79" y="57150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Microsoft JhengHei"/>
              </a:defRPr>
            </a:pPr>
            <a:r>
              <a:t>🤖 立即體驗 POC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