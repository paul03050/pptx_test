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828800"/>
            <a:ext cx="4572000" cy="4572000"/>
          </a:xfrm>
          <a:prstGeom prst="ellipse">
            <a:avLst/>
          </a:prstGeom>
          <a:solidFill>
            <a:srgbClr val="0D4A7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0D4A7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4572000"/>
            <a:ext cx="2743200" cy="27432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CSD TECH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9994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創思達科技股份有限公司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IPO 準備 · 內控制度建立 · ERP 導入規劃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97280" y="4114800"/>
            <a:ext cx="2286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8912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財務會計部  |  專案規劃簡報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 程 內 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2801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280160"/>
            <a:ext cx="54864" cy="10515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258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公司現況與職務範疇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帳務處理、稅務申報、存貨管理、ERP評估、專案控管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28016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280160"/>
            <a:ext cx="54864" cy="10515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3258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會計作業優化與憑證制度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流程梳理、憑證標準化、內控優化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56032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560320"/>
            <a:ext cx="54864" cy="10515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26060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4592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存貨管理與成本管控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製造研發料件管理、成本結轉與分析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56032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2560320"/>
            <a:ext cx="54864" cy="10515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6060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1520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財務報表與分析體系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0" y="3063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管理報表架構、經營決策KPI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384048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840480"/>
            <a:ext cx="54864" cy="10515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8862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64592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IPO 準備路徑圖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45920" y="4343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上櫃/上市條件檢核、輔導團隊、時程規劃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384048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3840480"/>
            <a:ext cx="54864" cy="10515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38862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31520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內部控制制度建立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15200" y="4343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COSO 架構、五大循環、控制活動設計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1520" y="51206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5120640"/>
            <a:ext cx="54864" cy="10515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9" name="Text 37"/>
          <p:cNvSpPr/>
          <p:nvPr/>
        </p:nvSpPr>
        <p:spPr>
          <a:xfrm>
            <a:off x="960120" y="5166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1645920" y="5212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系統評估與導入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45920" y="5623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需求分析、方案比較、導入步驟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0" y="5120640"/>
            <a:ext cx="5303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0" y="5120640"/>
            <a:ext cx="54864" cy="10515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516636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315200" y="5212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專案流程規劃與控管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315200" y="5623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WBS、里程碑、溝通與風險管理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公司現況與職務範疇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創思達科技 · 五大核心職掌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47548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帳務處理與稅務申報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137160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194560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公司帳務處理、傳票編製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788920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營業稅/各類所得/營所稅申報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383280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 調節表編製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73152" cy="7315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會計憑證制度建立與優化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28016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280160"/>
            <a:ext cx="54864" cy="4754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存貨與成本管控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566160" y="1920240"/>
            <a:ext cx="13716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3703320" y="219456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製造及研發料件存貨管理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278892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成本管控流程建立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03320" y="338328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8862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存貨盤點制度設計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03320" y="3977640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料件分級與出入庫流程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128016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280160"/>
            <a:ext cx="54864" cy="47548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財務報表與分析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492240" y="1920240"/>
            <a:ext cx="137160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5" name="Shape 33"/>
          <p:cNvSpPr/>
          <p:nvPr/>
        </p:nvSpPr>
        <p:spPr>
          <a:xfrm>
            <a:off x="6629400" y="2194560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定期編製財務報表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9400" y="2788920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28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經營分析與KPI指標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29400" y="3383280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681228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預算與差異分析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29400" y="3977640"/>
            <a:ext cx="73152" cy="73152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提供決策所需數據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35440" y="128016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235440" y="1280160"/>
            <a:ext cx="54864" cy="47548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45" name="Text 43"/>
          <p:cNvSpPr/>
          <p:nvPr/>
        </p:nvSpPr>
        <p:spPr>
          <a:xfrm>
            <a:off x="941832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B46C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評估與內控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9418320" y="1920240"/>
            <a:ext cx="1371600" cy="2743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47" name="Shape 45"/>
          <p:cNvSpPr/>
          <p:nvPr/>
        </p:nvSpPr>
        <p:spPr>
          <a:xfrm>
            <a:off x="9555480" y="2194560"/>
            <a:ext cx="73152" cy="73152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48" name="Text 46"/>
          <p:cNvSpPr/>
          <p:nvPr/>
        </p:nvSpPr>
        <p:spPr>
          <a:xfrm>
            <a:off x="97383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系統評估導入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555480" y="2788920"/>
            <a:ext cx="73152" cy="73152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0" name="Text 48"/>
          <p:cNvSpPr/>
          <p:nvPr/>
        </p:nvSpPr>
        <p:spPr>
          <a:xfrm>
            <a:off x="973836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內控制度編寫與落實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555480" y="3383280"/>
            <a:ext cx="73152" cy="73152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2" name="Text 50"/>
          <p:cNvSpPr/>
          <p:nvPr/>
        </p:nvSpPr>
        <p:spPr>
          <a:xfrm>
            <a:off x="973836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流程系統化與自動化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555480" y="3977640"/>
            <a:ext cx="73152" cy="73152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4" name="Text 52"/>
          <p:cNvSpPr/>
          <p:nvPr/>
        </p:nvSpPr>
        <p:spPr>
          <a:xfrm>
            <a:off x="973836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系統整合與資料治理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621792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0D4A7A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6217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核心目標：建立制度化財務會計體系，為 IPO 上市櫃做好準備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會計作業現況與流程優化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帳務處理 · 稅務申報 · 憑證制度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4572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現行作業分析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011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19933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憑證管理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194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憑證分類與保存制度待建立，缺少標準化作業流程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3000" y="233172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28163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記帳流程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017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部分帳務仍仰賴人工Excel作業，缺乏系統自動化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315468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3657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6393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稅務申報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840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申報時程與調節表編製缺乏制度化控管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43000" y="397764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4480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D4A7A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44622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6634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跨部門憑證傳遞與審核流程不明確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28016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280160"/>
            <a:ext cx="54864" cy="4572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優化行動方案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4922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0" y="2011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1993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憑證標準化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制定憑證分類編碼規則、審核層級、保存年限，建立會計憑證管理辦法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20840" y="233172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65836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40880" y="281635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流程自動化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40880" y="3017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導入ERP系統取代人工Excel作業，實現傳票輸入至報表產出一鍵流程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20840" y="315468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3680" y="3657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0" y="36393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稅務制度化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04088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建立申報行事曆、調節表標準格式、複核機制，確保準時正確申報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20840" y="397764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7"/>
          <p:cNvSpPr/>
          <p:nvPr/>
        </p:nvSpPr>
        <p:spPr>
          <a:xfrm>
            <a:off x="6583680" y="4480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040880" y="44622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溝通透明化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040880" y="4663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建立跨部門憑證審核流程圖，明確各節點負責人與時限要求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會計憑證制度建立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憑證分類 · 審核流程 · 保存管理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32004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憑證分類與編碼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03911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原始憑證：發票、收據、合約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54203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記帳憑證：傳票（現收/現支/轉帳）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04495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編碼規則：YYYYMM-XXX-部門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54787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電子憑證與紙本憑證對應管理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1280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280160"/>
            <a:ext cx="54864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審核流程與權責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2628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203911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經辦人 → 部門主管 → 會計審核 → 核准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54203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金額分級授權：小額/一般/大額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04495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異常憑證退件與追蹤機制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54787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審核時限：標準 3 工作天完成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1280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0" y="1280160"/>
            <a:ext cx="54864" cy="32004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保存與調閱管理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32104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5" name="Shape 33"/>
          <p:cNvSpPr/>
          <p:nvPr/>
        </p:nvSpPr>
        <p:spPr>
          <a:xfrm>
            <a:off x="8458200" y="203911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6" name="Text 34"/>
          <p:cNvSpPr/>
          <p:nvPr/>
        </p:nvSpPr>
        <p:spPr>
          <a:xfrm>
            <a:off x="864108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紙本憑證：專人歸檔、按序存放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58200" y="254203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2468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電子備份：雲端 + 地端雙重備份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58200" y="304495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864108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保存年限：至少 10 年（稅法規定）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458200" y="354787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2" name="Text 40"/>
          <p:cNvSpPr/>
          <p:nvPr/>
        </p:nvSpPr>
        <p:spPr>
          <a:xfrm>
            <a:off x="864108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調閱申請制度：記錄調閱人、用途、歸還日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475488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4754880"/>
            <a:ext cx="11091672" cy="54864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會計憑證管理辦法 — 制定要點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14400" y="53492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總則：目的（確保憑證真實/合法/完整）、適用範圍、名詞定義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55778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憑證種類與格式：明確定義各類憑證應附文件與填寫規範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58064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審核權限：金額分層授權表、簽核流程圖、代理人制度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4400" y="60350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歸檔與保存：紙本/電子歸檔方式、保存年限、銷毀程序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4400" y="626364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內部稽核：定期抽查憑證、缺失改善追蹤、年度內稽計畫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存貨管理制度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製造及研發料件 · 出入庫 · 盤點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29260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料件分類與編碼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2029968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原料/物料/在製品/製成品/研發樣品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487168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ABC 分級管理（依金額與重要性）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2944368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統一分類編碼規則（料號系統）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401568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表建立與維護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128016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280160"/>
            <a:ext cx="54864" cy="2926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出入庫管理流程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2628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2029968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進貨驗收：點收 → 檢驗 → 入庫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487168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領料出庫：工單領料/研發領料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944368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退貨/報廢流程：檢驗 → 核准 → 處理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401568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出入庫單據即時登錄ERP系統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128016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0" y="1280160"/>
            <a:ext cx="54864" cy="29260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盤點制度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32104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5" name="Shape 33"/>
          <p:cNvSpPr/>
          <p:nvPr/>
        </p:nvSpPr>
        <p:spPr>
          <a:xfrm>
            <a:off x="8458200" y="2029968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6" name="Text 34"/>
          <p:cNvSpPr/>
          <p:nvPr/>
        </p:nvSpPr>
        <p:spPr>
          <a:xfrm>
            <a:off x="864108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年度全面盤點：每年至少一次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58200" y="2487168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循環盤點：每月重點品項抽查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58200" y="2944368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864108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盤點差異分析與調整作業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458200" y="3401568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2" name="Text 40"/>
          <p:cNvSpPr/>
          <p:nvPr/>
        </p:nvSpPr>
        <p:spPr>
          <a:xfrm>
            <a:off x="864108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盤點績效指標：盤差率 &lt; 1%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4480560"/>
            <a:ext cx="1109167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4480560"/>
            <a:ext cx="54864" cy="20116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B46C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研發料件管理要點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914400" y="4937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研發樣品與量產料件分倉管理，避免混淆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5257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研發領料以專案為單位，建立專案領料單與成本歸屬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研發報廢料件需經研發主管 + 會計雙重核准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試製/試產階段料件視同在製品管理，納入盤點範圍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成本管控流程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成本要素 · 結轉流程 · 差異分析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20116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成本要素架構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直接原料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表用料 → 依實際領料入帳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直接人工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生產線人員薪資 → 依工時分攤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製造費用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廠房/水電/折舊/間接人員 → 合理分攤基礎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280160"/>
            <a:ext cx="54864" cy="2011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成本結轉流程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922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2011680"/>
            <a:ext cx="82296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011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進貨/領料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0" y="2011680"/>
            <a:ext cx="82296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011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人工/費用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2011680"/>
            <a:ext cx="82296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2011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成本計算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509760" y="2011680"/>
            <a:ext cx="82296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9509760" y="2011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結轉製成品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332720" y="2148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515600" y="2011680"/>
            <a:ext cx="82296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0" y="2011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銷貨成本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566160"/>
            <a:ext cx="10881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3566160"/>
            <a:ext cx="54864" cy="29260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成本差異分析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402336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" y="42062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4206240"/>
            <a:ext cx="3291840" cy="3657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材料差異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實際用量 vs 標準用量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實際價格 vs 標準價格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每週產出用料差異報表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80560" y="42062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4206240"/>
            <a:ext cx="3291840" cy="3657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人工差異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66344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實際工時 vs 標準工時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實際工資率 vs 標準工資率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6344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按月計算人工效率指標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046720" y="420624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4206240"/>
            <a:ext cx="3291840" cy="3657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費用差異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229600" y="4709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實際製造費用 vs 預計分攤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產能利用率分析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2960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差異 &gt; 10% 需提出說明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財務報表與分析體系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定期報表 · KPI 指標 · 經營決策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47548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財務報告架構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96596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現金日報表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1671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銀行存款餘額表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292608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2926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3127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資產負債表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3328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科目餘額表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5295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費用明細表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3730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應收/應付帳齡表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" y="388620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886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3886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現金流量表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0873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部門損益表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42885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預算執行差異分析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5840" y="484632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846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45920" y="4846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年度財務報表（會計師查核）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45920" y="5047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營所稅結算申報書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128016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1280160"/>
            <a:ext cx="54864" cy="4754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經營分析 KPI 體系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4922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0" y="196596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0D4A7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獲利能力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19659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毛利率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2148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營業利益率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2331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淨利率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25146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每股盈餘 EPS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283464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0D4A7A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營運效率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28346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存貨周轉天數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30175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應收帳款回收天數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0" y="3200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總資產周轉率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83680" y="370332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0D4A7A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償債能力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46720" y="37033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流動比率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6720" y="3886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速動比率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40690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利息保障倍數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83680" y="457200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0D4A7A"/>
          </a:solidFill>
          <a:ln/>
        </p:spPr>
      </p:sp>
      <p:sp>
        <p:nvSpPr>
          <p:cNvPr id="52" name="Text 50"/>
          <p:cNvSpPr/>
          <p:nvPr/>
        </p:nvSpPr>
        <p:spPr>
          <a:xfrm>
            <a:off x="658368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成長指標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0" y="45720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營收成長率 YoY/QoQ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46720" y="47548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營業利益成長率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217920" y="5303520"/>
            <a:ext cx="5303520" cy="640080"/>
          </a:xfrm>
          <a:prstGeom prst="roundRect">
            <a:avLst>
              <a:gd name="adj" fmla="val 8571"/>
            </a:avLst>
          </a:prstGeom>
          <a:solidFill>
            <a:srgbClr val="F18F01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定時產出管理報表，提供經營團隊即時決策數據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IPO 準備路徑圖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上市櫃條件檢核 · 輔導團隊 · 時程規劃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2286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上市櫃基本條件檢核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設立年限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設立滿三個完整會計年度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資本額/淨值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興櫃：1億；上市：6億（淨值&gt;1/3）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獲利能力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最近年度淨利 &gt; 4%，或近二年均 &gt; 3%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股權分散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持有股份 &gt; 1,000 股之人數 &gt; 300 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280160"/>
            <a:ext cx="54864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IPO 輔導團隊組成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922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2066544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011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主辦承銷商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20116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綜合券商，主導送件與詢價圈購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2432304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會計師事務所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2377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財稅報簽證、內控專審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2798064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2743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律師事務所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2743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公司治理、法規遵循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3163824"/>
            <a:ext cx="73152" cy="731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108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內部工作小組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3108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財會、業務、研發、人資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840480"/>
            <a:ext cx="10881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3977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IPO 準備時程規劃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4937760"/>
            <a:ext cx="103327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Shape 36"/>
          <p:cNvSpPr/>
          <p:nvPr/>
        </p:nvSpPr>
        <p:spPr>
          <a:xfrm>
            <a:off x="2011680" y="4828032"/>
            <a:ext cx="256032" cy="25603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39" name="Shape 37"/>
          <p:cNvSpPr/>
          <p:nvPr/>
        </p:nvSpPr>
        <p:spPr>
          <a:xfrm>
            <a:off x="914400" y="4434840"/>
            <a:ext cx="2423160" cy="320040"/>
          </a:xfrm>
          <a:prstGeom prst="roundRect">
            <a:avLst>
              <a:gd name="adj" fmla="val 11429"/>
            </a:avLst>
          </a:prstGeom>
          <a:solidFill>
            <a:srgbClr val="0D4A7A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4434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體質調整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" y="5120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Q1-Q2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" y="5349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建立內控制度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導入ERP系統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財稅報制度建立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828032"/>
            <a:ext cx="256032" cy="25603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44" name="Shape 42"/>
          <p:cNvSpPr/>
          <p:nvPr/>
        </p:nvSpPr>
        <p:spPr>
          <a:xfrm>
            <a:off x="3611880" y="4434840"/>
            <a:ext cx="2423160" cy="320040"/>
          </a:xfrm>
          <a:prstGeom prst="roundRect">
            <a:avLst>
              <a:gd name="adj" fmla="val 11429"/>
            </a:avLst>
          </a:prstGeom>
          <a:solidFill>
            <a:srgbClr val="0D4A7A"/>
          </a:solidFill>
          <a:ln/>
        </p:spPr>
      </p:sp>
      <p:sp>
        <p:nvSpPr>
          <p:cNvPr id="45" name="Text 43"/>
          <p:cNvSpPr/>
          <p:nvPr/>
        </p:nvSpPr>
        <p:spPr>
          <a:xfrm>
            <a:off x="3611880" y="4434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輔導期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94760" y="5120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Q3-Q4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794760" y="5349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聘請輔導團隊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內控專審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財務整理與簽證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06640" y="4828032"/>
            <a:ext cx="256032" cy="25603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49" name="Shape 47"/>
          <p:cNvSpPr/>
          <p:nvPr/>
        </p:nvSpPr>
        <p:spPr>
          <a:xfrm>
            <a:off x="6309360" y="4434840"/>
            <a:ext cx="2423160" cy="320040"/>
          </a:xfrm>
          <a:prstGeom prst="roundRect">
            <a:avLst>
              <a:gd name="adj" fmla="val 11429"/>
            </a:avLst>
          </a:prstGeom>
          <a:solidFill>
            <a:srgbClr val="0D4A7A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4434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興櫃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92240" y="5120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 H1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92240" y="5349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送件興櫃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股權分散作業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法人說明會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104120" y="4828032"/>
            <a:ext cx="256032" cy="256032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54" name="Shape 52"/>
          <p:cNvSpPr/>
          <p:nvPr/>
        </p:nvSpPr>
        <p:spPr>
          <a:xfrm>
            <a:off x="9006840" y="4434840"/>
            <a:ext cx="2423160" cy="320040"/>
          </a:xfrm>
          <a:prstGeom prst="roundRect">
            <a:avLst>
              <a:gd name="adj" fmla="val 11429"/>
            </a:avLst>
          </a:prstGeom>
          <a:solidFill>
            <a:srgbClr val="0D4A7A"/>
          </a:solidFill>
          <a:ln/>
        </p:spPr>
      </p:sp>
      <p:sp>
        <p:nvSpPr>
          <p:cNvPr id="55" name="Text 53"/>
          <p:cNvSpPr/>
          <p:nvPr/>
        </p:nvSpPr>
        <p:spPr>
          <a:xfrm>
            <a:off x="9006840" y="4434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申請上市櫃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189720" y="5120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 H2~Y3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189720" y="5349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申請上市櫃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主管機關審查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掛牌交易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內部控制制度建立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COSO 架構 · 五大循環 · 控制活動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2286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COSO 內部控制整合架構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控制環境 (Control Environment)：誠信與道德價值、董事會監督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258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風險評估 (Risk Assessment)：目標設定、風險辨識與分析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51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控制活動 (Control Activities)：授權、職能分工、覆核、稽核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843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資訊與溝通 (Info &amp; Communication)：內部報告、外部溝通管道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1363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監督 (Monitoring)：持續監控、個別評估、缺失通報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80160"/>
            <a:ext cx="54864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內部控制五大循環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922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銷售及收款循環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訂單處理、授信、出貨、收款、客訴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採購及付款循環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請購、採購、驗收、付款、供應商管理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生產循環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生產規劃、領投料、在製品管理、製成品入庫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薪工循環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人事、差勤、薪資計算、發放、申報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固定資產循環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資產取得、折舊、維護、盤點、處分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840480"/>
            <a:ext cx="10881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977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內控制度建立步驟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22960" y="44805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480560"/>
            <a:ext cx="2011680" cy="3657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現況診斷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5029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訪談各部門、盤點現有流程、辨識內控缺失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34640" y="5120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063240" y="44805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63240" y="4480560"/>
            <a:ext cx="2011680" cy="3657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2044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制度設計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46120" y="5029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依COSO架構及上市櫃審查準則，設計各循環控制活動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5120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03520" y="44805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03520" y="4480560"/>
            <a:ext cx="2011680" cy="3657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46" name="Text 44"/>
          <p:cNvSpPr/>
          <p:nvPr/>
        </p:nvSpPr>
        <p:spPr>
          <a:xfrm>
            <a:off x="54406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76072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制度編寫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0" y="5029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產出內部控制制度手冊、作業流程圖、表單設計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15200" y="5120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43800" y="44805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43800" y="4480560"/>
            <a:ext cx="2011680" cy="3657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00100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726680" y="5029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全員內控宣導、重點部門深度培訓、模擬演練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555480" y="5120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784080" y="448056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84080" y="4480560"/>
            <a:ext cx="2011680" cy="36576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58" name="Text 56"/>
          <p:cNvSpPr/>
          <p:nvPr/>
        </p:nvSpPr>
        <p:spPr>
          <a:xfrm>
            <a:off x="99212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024128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落實執行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966960" y="5029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正式公告實施、系統設定控制點、定期查核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內控制度實例 — 採購付款循環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 · 關鍵控制點 · 表單設計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47548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採購付款作業流程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請購：需求部門提出請購單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45920" y="2295144"/>
            <a:ext cx="27432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04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詢價：採購部詢價、比價、議價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2734056"/>
            <a:ext cx="27432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8437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採購：訂購單經核准後發出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3172968"/>
            <a:ext cx="27432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826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驗收：倉管點收品檢，登錄系統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0" y="3611880"/>
            <a:ext cx="27432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21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請款：供應商發票 + 驗收單送會計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45920" y="4050792"/>
            <a:ext cx="27432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審核：會計審核憑證、科目、金額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645920" y="4489704"/>
            <a:ext cx="27432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599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付款：依合約條件開票或匯款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45920" y="4928616"/>
            <a:ext cx="27432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038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 入帳：傳票編製、科目餘額更新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280160"/>
            <a:ext cx="54864" cy="2286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關鍵控制點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4922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19659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請購與採購職能分工（避免球員兼裁判）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2219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採購金額分級授權（經理/副總/總經理）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4780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三家以上比價記錄（大額採購）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73405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驗收單據必須與訂購單核對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29900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會計審核憑證三要件：真實/合法/完整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2461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付款期限控管，避免逾期或過早付款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749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749040"/>
            <a:ext cx="54864" cy="22860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內控相關表單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492240" y="425196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44348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請購單（含需求說明、預算科目）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469087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採購比價記錄表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49469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訂購單 / 採購合約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52029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驗收單（品檢 + 數量確認）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54589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應付憑單（發票 + 驗收單 + 訂購單）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5715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付款申請單（含核准簽核）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 — 其他循環概述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銷售收款 · 薪工 · 生產 · 固定資產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2801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38404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銷售及收款循環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03911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授信額度審核（超額須特准）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63347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出貨與開立發票職能分工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22783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應收帳款帳齡分析與催收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82219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收款沖帳即時核對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12801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1280160"/>
            <a:ext cx="54864" cy="3840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生產循環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6616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3703320" y="203911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生產工單開立與核准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03320" y="263347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領料單與BOM表核對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322783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88620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在製品盤點與差異追蹤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03320" y="382219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製成品入庫品檢記錄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12801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280160"/>
            <a:ext cx="54864" cy="3840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薪工循環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652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0" y="203911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人事異動與薪資計算分離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263347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出勤記錄與薪資核對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322783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年終/獎金計算需經核准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382219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勞健保/退休金申報正確性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89720" y="1280160"/>
            <a:ext cx="2651760" cy="3840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189720" y="1280160"/>
            <a:ext cx="54864" cy="38404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45" name="Text 43"/>
          <p:cNvSpPr/>
          <p:nvPr/>
        </p:nvSpPr>
        <p:spPr>
          <a:xfrm>
            <a:off x="93268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46C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固定資產循環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326880" y="1783080"/>
            <a:ext cx="1097280" cy="2743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47" name="Shape 45"/>
          <p:cNvSpPr/>
          <p:nvPr/>
        </p:nvSpPr>
        <p:spPr>
          <a:xfrm>
            <a:off x="9464040" y="203911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48" name="Text 46"/>
          <p:cNvSpPr/>
          <p:nvPr/>
        </p:nvSpPr>
        <p:spPr>
          <a:xfrm>
            <a:off x="964692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資產取得資本化/費用化判定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464040" y="263347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0" name="Text 48"/>
          <p:cNvSpPr/>
          <p:nvPr/>
        </p:nvSpPr>
        <p:spPr>
          <a:xfrm>
            <a:off x="964692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資產標籤管理與盤點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464040" y="322783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2" name="Text 50"/>
          <p:cNvSpPr/>
          <p:nvPr/>
        </p:nvSpPr>
        <p:spPr>
          <a:xfrm>
            <a:off x="964692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折舊計算與耐用年限檢討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464040" y="382219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4" name="Text 52"/>
          <p:cNvSpPr/>
          <p:nvPr/>
        </p:nvSpPr>
        <p:spPr>
          <a:xfrm>
            <a:off x="964692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資產報廢/處分需經核准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539496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5394960"/>
            <a:ext cx="11091672" cy="54864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57" name="Text 55"/>
          <p:cNvSpPr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內控制度撰寫文件產出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內部控制制度手冊（含各循環控制活動）  |  作業流程圖（SOP + 流程圖）  |  控制自行評估表（CSA）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14400" y="6172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內部稽核計畫與報告  |  職能分工表（授權矩陣）  |  各循環使用表單（已設計完成）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需求分析與評估維度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功能需求 · 技術評估 · 成本分析 · 廠商評比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47548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功能需求分析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03911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965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財務會計：總帳/應收應付/票據/固定資產/成本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63347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進銷存管理：採購/銷售/庫存/物流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2783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製造管理：BOM/製令/工單/產能規劃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2219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49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研發管理：專案成本/研發費用歸屬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16552"/>
            <a:ext cx="64008" cy="64008"/>
          </a:xfrm>
          <a:prstGeom prst="ellipse">
            <a:avLst/>
          </a:prstGeom>
          <a:solidFill>
            <a:srgbClr val="0D4A7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 管理：人事/薪資/出勤/福利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128016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1280160"/>
            <a:ext cx="54864" cy="4754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技術與整合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204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203911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1965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雲端/地端部署彈性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263347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開放性與第三方系統串接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322783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資料庫架構與效能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382219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3749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行動裝置支援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0" y="4416552"/>
            <a:ext cx="64008" cy="640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資料安全與備份機制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128016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1280160"/>
            <a:ext cx="54864" cy="47548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成本評估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652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39" name="Shape 37"/>
          <p:cNvSpPr/>
          <p:nvPr/>
        </p:nvSpPr>
        <p:spPr>
          <a:xfrm>
            <a:off x="6583680" y="203911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1965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軟體授權費（買斷/年租）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263347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導入顧問費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322783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客製開發費用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0" y="382219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6" name="Text 44"/>
          <p:cNvSpPr/>
          <p:nvPr/>
        </p:nvSpPr>
        <p:spPr>
          <a:xfrm>
            <a:off x="6766560" y="3749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硬體/雲端基礎設施費用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83680" y="4416552"/>
            <a:ext cx="64008" cy="6400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年度維護費（通常 15-20%）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235440" y="1280160"/>
            <a:ext cx="2697480" cy="47548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35440" y="1280160"/>
            <a:ext cx="54864" cy="475488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51" name="Text 49"/>
          <p:cNvSpPr/>
          <p:nvPr/>
        </p:nvSpPr>
        <p:spPr>
          <a:xfrm>
            <a:off x="9372600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46C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廠商評估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372600" y="1783080"/>
            <a:ext cx="1097280" cy="27432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53" name="Shape 51"/>
          <p:cNvSpPr/>
          <p:nvPr/>
        </p:nvSpPr>
        <p:spPr>
          <a:xfrm>
            <a:off x="9509760" y="203911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4" name="Text 52"/>
          <p:cNvSpPr/>
          <p:nvPr/>
        </p:nvSpPr>
        <p:spPr>
          <a:xfrm>
            <a:off x="9692640" y="1965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在地化服務能力與售後支援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509760" y="263347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6" name="Text 54"/>
          <p:cNvSpPr/>
          <p:nvPr/>
        </p:nvSpPr>
        <p:spPr>
          <a:xfrm>
            <a:off x="9692640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導入團隊經驗與參考客戶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509760" y="322783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58" name="Text 56"/>
          <p:cNvSpPr/>
          <p:nvPr/>
        </p:nvSpPr>
        <p:spPr>
          <a:xfrm>
            <a:off x="969264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產品迭代更新頻率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509760" y="382219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60" name="Text 58"/>
          <p:cNvSpPr/>
          <p:nvPr/>
        </p:nvSpPr>
        <p:spPr>
          <a:xfrm>
            <a:off x="9692640" y="3749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教育訓練與知識轉移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509760" y="4416552"/>
            <a:ext cx="64008" cy="64008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62" name="Text 60"/>
          <p:cNvSpPr/>
          <p:nvPr/>
        </p:nvSpPr>
        <p:spPr>
          <a:xfrm>
            <a:off x="969264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市場佔有率與產業口碑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導入步驟與組織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導入團隊 · 階段時程 · 風險管理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47548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導入團隊組織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9659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專案發起人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高階主管  |  賦予資源與決策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6517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670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專案經理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財務/IT主管  |  進度管控與溝通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3375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3558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關鍵使用者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各部門種子  |  需求確認與測試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40233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41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技術組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資訊人員  |  系統維運與串接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470916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727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外部顧問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ERP廠商  |  導入輔導與培訓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128016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1280160"/>
            <a:ext cx="54864" cy="4754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導入階段時程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6634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196596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M1-M2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需求訪談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現況流程盤點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系統選商決策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74320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7614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M3-M5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系統建置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參數設定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基礎資料匯入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52044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538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M6-M7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單元測試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整合測試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UAT 驗收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429768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315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M8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上線準備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資料轉換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507492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5093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M9+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正式上線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平行測試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持續優化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38160" y="128016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38160" y="1280160"/>
            <a:ext cx="54864" cy="47548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風險管理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841248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9" name="Shape 47"/>
          <p:cNvSpPr/>
          <p:nvPr/>
        </p:nvSpPr>
        <p:spPr>
          <a:xfrm>
            <a:off x="8412480" y="1965960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1965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869680" y="19476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需求變更頻繁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69680" y="210312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明確範疇、變更管制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601200" y="2258568"/>
            <a:ext cx="27432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52"/>
          <p:cNvSpPr/>
          <p:nvPr/>
        </p:nvSpPr>
        <p:spPr>
          <a:xfrm>
            <a:off x="8412480" y="2679192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55" name="Text 53"/>
          <p:cNvSpPr/>
          <p:nvPr/>
        </p:nvSpPr>
        <p:spPr>
          <a:xfrm>
            <a:off x="8412480" y="26791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869680" y="26609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資料轉換錯誤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869680" y="281635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多次演練、比對驗證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601200" y="2971800"/>
            <a:ext cx="27432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Shape 57"/>
          <p:cNvSpPr/>
          <p:nvPr/>
        </p:nvSpPr>
        <p:spPr>
          <a:xfrm>
            <a:off x="8412480" y="3392424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60" name="Text 58"/>
          <p:cNvSpPr/>
          <p:nvPr/>
        </p:nvSpPr>
        <p:spPr>
          <a:xfrm>
            <a:off x="841248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869680" y="33741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人員抗拒變革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869680" y="35295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充分溝通、教育訓練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601200" y="3685032"/>
            <a:ext cx="27432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Shape 62"/>
          <p:cNvSpPr/>
          <p:nvPr/>
        </p:nvSpPr>
        <p:spPr>
          <a:xfrm>
            <a:off x="8412480" y="4105656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65" name="Text 63"/>
          <p:cNvSpPr/>
          <p:nvPr/>
        </p:nvSpPr>
        <p:spPr>
          <a:xfrm>
            <a:off x="8412480" y="41056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869680" y="40873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專案時程延誤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869680" y="42428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週進度追蹤、buffer管理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601200" y="4398264"/>
            <a:ext cx="274320" cy="4023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Shape 67"/>
          <p:cNvSpPr/>
          <p:nvPr/>
        </p:nvSpPr>
        <p:spPr>
          <a:xfrm>
            <a:off x="8412480" y="4818888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38A169"/>
          </a:solidFill>
          <a:ln/>
        </p:spPr>
      </p:sp>
      <p:sp>
        <p:nvSpPr>
          <p:cNvPr id="70" name="Text 68"/>
          <p:cNvSpPr/>
          <p:nvPr/>
        </p:nvSpPr>
        <p:spPr>
          <a:xfrm>
            <a:off x="8412480" y="4818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869680" y="480060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廠商支援不足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869680" y="495604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合約明訂SLA、備援廠商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 ERP 方案比較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 · SAP B1 · Oracle NetSuite · Odoo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1274552" cy="53035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1645920" cy="4114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評估項目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1371600"/>
            <a:ext cx="2194560" cy="4114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 ERP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2194560" cy="4114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SAP Business 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2194560" cy="4114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Oracle NetSuite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194560" cy="4114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Odoo（開源）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1783080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1783080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17830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適合規模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1783080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17830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中大型企業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783080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7830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中小型企業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783080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7830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中大型跨國企業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61120" y="1783080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17830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中小型企業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2313432"/>
            <a:ext cx="1645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2313432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231343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部署方式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77440" y="2313432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468880" y="23134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 / 雲端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2313432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23134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 / 雲端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2313432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23134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雲端原生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61120" y="2313432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052560" y="23134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 / 雲端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2843784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" y="2843784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2843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在地化支援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77440" y="2843784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4" name="Text 42"/>
          <p:cNvSpPr/>
          <p:nvPr/>
        </p:nvSpPr>
        <p:spPr>
          <a:xfrm>
            <a:off x="2468880" y="28437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2843784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28437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★★★☆☆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66560" y="2843784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28437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★★★☆☆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961120" y="2843784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0" name="Text 48"/>
          <p:cNvSpPr/>
          <p:nvPr/>
        </p:nvSpPr>
        <p:spPr>
          <a:xfrm>
            <a:off x="9052560" y="28437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★★★☆☆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" y="3374136"/>
            <a:ext cx="1645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731520" y="3374136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337413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導入費用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77440" y="3374136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468880" y="33741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3374136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33741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766560" y="3374136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858000" y="33741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961120" y="3374136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052560" y="33741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低（開源免費）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1520" y="3904488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3" name="Shape 61"/>
          <p:cNvSpPr/>
          <p:nvPr/>
        </p:nvSpPr>
        <p:spPr>
          <a:xfrm>
            <a:off x="731520" y="3904488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4" name="Text 62"/>
          <p:cNvSpPr/>
          <p:nvPr/>
        </p:nvSpPr>
        <p:spPr>
          <a:xfrm>
            <a:off x="822960" y="39044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導入週期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77440" y="3904488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6" name="Text 64"/>
          <p:cNvSpPr/>
          <p:nvPr/>
        </p:nvSpPr>
        <p:spPr>
          <a:xfrm>
            <a:off x="2468880" y="39044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4-8 個月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0" y="3904488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8" name="Text 66"/>
          <p:cNvSpPr/>
          <p:nvPr/>
        </p:nvSpPr>
        <p:spPr>
          <a:xfrm>
            <a:off x="4663440" y="39044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3-6 個月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766560" y="3904488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0" name="Text 68"/>
          <p:cNvSpPr/>
          <p:nvPr/>
        </p:nvSpPr>
        <p:spPr>
          <a:xfrm>
            <a:off x="6858000" y="39044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4-8 個月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961120" y="3904488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2" name="Text 70"/>
          <p:cNvSpPr/>
          <p:nvPr/>
        </p:nvSpPr>
        <p:spPr>
          <a:xfrm>
            <a:off x="9052560" y="39044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2-4 個月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31520" y="4434840"/>
            <a:ext cx="1645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731520" y="4434840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443484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製造管理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377440" y="4434840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2468880" y="4434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完整支援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572000" y="4434840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4663440" y="4434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基本支援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766560" y="4434840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6858000" y="4434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基本支援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961120" y="4434840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9052560" y="4434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模組擴展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31520" y="4965192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5" name="Shape 83"/>
          <p:cNvSpPr/>
          <p:nvPr/>
        </p:nvSpPr>
        <p:spPr>
          <a:xfrm>
            <a:off x="731520" y="4965192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6" name="Text 84"/>
          <p:cNvSpPr/>
          <p:nvPr/>
        </p:nvSpPr>
        <p:spPr>
          <a:xfrm>
            <a:off x="822960" y="49651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客製彈性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377440" y="4965192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8" name="Text 86"/>
          <p:cNvSpPr/>
          <p:nvPr/>
        </p:nvSpPr>
        <p:spPr>
          <a:xfrm>
            <a:off x="2468880" y="49651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572000" y="4965192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0" name="Text 88"/>
          <p:cNvSpPr/>
          <p:nvPr/>
        </p:nvSpPr>
        <p:spPr>
          <a:xfrm>
            <a:off x="4663440" y="49651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766560" y="4965192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2" name="Text 90"/>
          <p:cNvSpPr/>
          <p:nvPr/>
        </p:nvSpPr>
        <p:spPr>
          <a:xfrm>
            <a:off x="6858000" y="49651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8961120" y="4965192"/>
            <a:ext cx="219456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4" name="Text 92"/>
          <p:cNvSpPr/>
          <p:nvPr/>
        </p:nvSpPr>
        <p:spPr>
          <a:xfrm>
            <a:off x="9052560" y="49651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高度彈性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731520" y="5495544"/>
            <a:ext cx="1645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94"/>
          <p:cNvSpPr/>
          <p:nvPr/>
        </p:nvSpPr>
        <p:spPr>
          <a:xfrm>
            <a:off x="731520" y="5495544"/>
            <a:ext cx="1645920" cy="5303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7" name="Text 95"/>
          <p:cNvSpPr/>
          <p:nvPr/>
        </p:nvSpPr>
        <p:spPr>
          <a:xfrm>
            <a:off x="822960" y="549554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台灣市佔率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2377440" y="5495544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2468880" y="54955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4572000" y="5495544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4663440" y="54955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6766560" y="5495544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101"/>
          <p:cNvSpPr/>
          <p:nvPr/>
        </p:nvSpPr>
        <p:spPr>
          <a:xfrm>
            <a:off x="6858000" y="54955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較低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8961120" y="5495544"/>
            <a:ext cx="21945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3"/>
          <p:cNvSpPr/>
          <p:nvPr/>
        </p:nvSpPr>
        <p:spPr>
          <a:xfrm>
            <a:off x="9052560" y="54955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新興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731520" y="6126480"/>
            <a:ext cx="10725912" cy="50292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07" name="Text 105"/>
          <p:cNvSpPr/>
          <p:nvPr/>
        </p:nvSpPr>
        <p:spPr>
          <a:xfrm>
            <a:off x="914400" y="61264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建議：依公司階段性需求，可先導入鼎新 ERP（台灣在地化最佳）或 Odoo（彈性高、成本低），後續再評估升級方案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專案流程規劃與控管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WBS · 里程碑 · 溝通計畫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64592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8016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54864" cy="4754880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專案工作分解（WBS）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1097280" cy="27432"/>
          </a:xfrm>
          <a:prstGeom prst="rect">
            <a:avLst/>
          </a:prstGeom>
          <a:solidFill>
            <a:srgbClr val="0D4A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1.0 會計制度建立（帳務/稅務/憑證）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2331720"/>
            <a:ext cx="18288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414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2.0 存貨管理與成本制度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2807208"/>
            <a:ext cx="18288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169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3.0 財務報表與分析體系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3282696"/>
            <a:ext cx="18288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924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4.0 內控制度建立（五循環）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0" y="3758184"/>
            <a:ext cx="18288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679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5.0 ERP 系統導入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0" y="4233672"/>
            <a:ext cx="18288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43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6.0 IPO 輔導與送件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0" y="4709160"/>
            <a:ext cx="18288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18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7.0 專案管理與品質保證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128016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1280160"/>
            <a:ext cx="54864" cy="4754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里程碑時程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1783080"/>
            <a:ext cx="109728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1965960"/>
            <a:ext cx="365760" cy="2286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965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1947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M1-M2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2167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內控制度完成編寫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514600"/>
            <a:ext cx="365760" cy="2286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514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2496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M3-M4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2715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會計制度與憑證辦法公告實施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063240"/>
            <a:ext cx="365760" cy="2286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063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3044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M5-M7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3264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導入完成上線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611880"/>
            <a:ext cx="365760" cy="2286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3611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3593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M8-M10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3813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內控制度落實查核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4160520"/>
            <a:ext cx="365760" cy="2286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4160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4142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M11-M12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20640" y="4361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IPO 輔導團隊進場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709160"/>
            <a:ext cx="365760" cy="2286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4663440" y="47091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0" y="4690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 H1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0" y="4910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送件興櫃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38160" y="128016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138160" y="1280160"/>
            <a:ext cx="54864" cy="47548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54" name="Text 52"/>
          <p:cNvSpPr/>
          <p:nvPr/>
        </p:nvSpPr>
        <p:spPr>
          <a:xfrm>
            <a:off x="84124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溝通與控管機制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12480" y="1783080"/>
            <a:ext cx="1097280" cy="27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56" name="Shape 54"/>
          <p:cNvSpPr/>
          <p:nvPr/>
        </p:nvSpPr>
        <p:spPr>
          <a:xfrm>
            <a:off x="8412480" y="1965960"/>
            <a:ext cx="36576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57" name="Text 55"/>
          <p:cNvSpPr/>
          <p:nvPr/>
        </p:nvSpPr>
        <p:spPr>
          <a:xfrm>
            <a:off x="8595360" y="1947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週報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595360" y="21488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每週工作進度更新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12480" y="2514600"/>
            <a:ext cx="36576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60" name="Text 58"/>
          <p:cNvSpPr/>
          <p:nvPr/>
        </p:nvSpPr>
        <p:spPr>
          <a:xfrm>
            <a:off x="8595360" y="2496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月會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595360" y="26974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跨部門進度檢討會議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412480" y="3063240"/>
            <a:ext cx="36576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63" name="Text 61"/>
          <p:cNvSpPr/>
          <p:nvPr/>
        </p:nvSpPr>
        <p:spPr>
          <a:xfrm>
            <a:off x="8595360" y="3044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季報告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595360" y="32461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向經營層彙報成果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412480" y="3611880"/>
            <a:ext cx="36576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66" name="Text 64"/>
          <p:cNvSpPr/>
          <p:nvPr/>
        </p:nvSpPr>
        <p:spPr>
          <a:xfrm>
            <a:off x="8595360" y="3593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變更管制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595360" y="37947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範疇/時程變更需書面核准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412480" y="4160520"/>
            <a:ext cx="36576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69" name="Text 67"/>
          <p:cNvSpPr/>
          <p:nvPr/>
        </p:nvSpPr>
        <p:spPr>
          <a:xfrm>
            <a:off x="8595360" y="4142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品質查核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595360" y="43434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每階段 deliverables 檢核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412480" y="4709160"/>
            <a:ext cx="36576" cy="41148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72" name="Text 70"/>
          <p:cNvSpPr/>
          <p:nvPr/>
        </p:nvSpPr>
        <p:spPr>
          <a:xfrm>
            <a:off x="8595360" y="4690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風險登錄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595360" y="48920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風險項目追蹤與因應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4572000" cy="4572000"/>
          </a:xfrm>
          <a:prstGeom prst="ellipse">
            <a:avLst/>
          </a:prstGeom>
          <a:solidFill>
            <a:srgbClr val="0D4A7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4A7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5720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行動方案與下一步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097280" y="1920240"/>
            <a:ext cx="2286000" cy="365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2860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0D4A7A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423160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423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內控制度編寫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立即啟動五大循環內控手冊編寫，預計 2 個月完成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063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02809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92240" y="22860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0D4A7A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423160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423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系統選商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成立評選小組，完成需求訪談與廠商評比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49840" y="30632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028090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36576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0D4A7A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3794760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3794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3730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會計制度優化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8308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憑證管理辦法、稅務行事曆、流程標準化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44348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028090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434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36576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0D4A7A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3794760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3794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3730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存貨與成本制度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780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料件編碼、出入庫流程、盤點制度建立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149840" y="44348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149840" y="4434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0" y="50292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0D4A7A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80160" y="5166360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1280160" y="5166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83080" y="5102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財務分析體系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783080" y="5440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管理報表自動化、KPI 儀表板建置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58064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028090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5806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92240" y="50292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0D4A7A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75120" y="5166360"/>
            <a:ext cx="365760" cy="256032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5166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78040" y="5102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IPO 輔導遴選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78040" y="5440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評估承銷商與會計師事務所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149840" y="5806440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028090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149840" y="5806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6-8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" y="603504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8F0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建立制度化財務會計體系，為公司永續發展與 IPO 上市櫃奠定堅實基礎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創思達科技 - IPO準備、內控制度建立與ERP導入規劃</dc:title>
  <dc:subject>PptxGenJS Presentation</dc:subject>
  <dc:creator>創思達科技</dc:creator>
  <cp:lastModifiedBy>創思達科技</cp:lastModifiedBy>
  <cp:revision>1</cp:revision>
  <dcterms:created xsi:type="dcterms:W3CDTF">2026-06-25T05:22:17Z</dcterms:created>
  <dcterms:modified xsi:type="dcterms:W3CDTF">2026-06-25T05:22:17Z</dcterms:modified>
</cp:coreProperties>
</file>